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4" r:id="rId9"/>
    <p:sldId id="282" r:id="rId10"/>
    <p:sldId id="266" r:id="rId11"/>
    <p:sldId id="267" r:id="rId12"/>
    <p:sldId id="268" r:id="rId13"/>
    <p:sldId id="283" r:id="rId14"/>
    <p:sldId id="288" r:id="rId15"/>
    <p:sldId id="289" r:id="rId16"/>
    <p:sldId id="284" r:id="rId17"/>
    <p:sldId id="271" r:id="rId18"/>
    <p:sldId id="273" r:id="rId19"/>
    <p:sldId id="285" r:id="rId20"/>
    <p:sldId id="277" r:id="rId21"/>
    <p:sldId id="280" r:id="rId22"/>
    <p:sldId id="281" r:id="rId23"/>
    <p:sldId id="287" r:id="rId24"/>
    <p:sldId id="278" r:id="rId25"/>
    <p:sldId id="292" r:id="rId26"/>
    <p:sldId id="286" r:id="rId27"/>
    <p:sldId id="291" r:id="rId28"/>
    <p:sldId id="275" r:id="rId29"/>
  </p:sldIdLst>
  <p:sldSz cx="10693400" cy="7569200"/>
  <p:notesSz cx="6858000" cy="9144000"/>
  <p:embeddedFontLst>
    <p:embeddedFont>
      <p:font typeface="맑은 고딕" panose="020B0503020000020004" pitchFamily="34" charset="-127"/>
      <p:regular r:id="rId31"/>
      <p:bold r:id="rId32"/>
    </p:embeddedFont>
    <p:embeddedFont>
      <p:font typeface="Noto Sans CJK KR Regular" panose="020B0604020202020204" charset="-128"/>
      <p:regular r:id="rId33"/>
    </p:embeddedFont>
    <p:embeddedFont>
      <p:font typeface="Pretendard Regular" panose="020B0604020202020204" charset="-127"/>
      <p:regular r:id="rId34"/>
    </p:embeddedFont>
    <p:embeddedFont>
      <p:font typeface="Bebas" panose="020B06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3D4"/>
    <a:srgbClr val="7B4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8220" autoAdjust="0"/>
  </p:normalViewPr>
  <p:slideViewPr>
    <p:cSldViewPr>
      <p:cViewPr varScale="1">
        <p:scale>
          <a:sx n="66" d="100"/>
          <a:sy n="66" d="100"/>
        </p:scale>
        <p:origin x="160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67C48-8139-4761-975E-C434F3AC9893}" type="datetimeFigureOut">
              <a:rPr lang="ko-KR" altLang="en-US" smtClean="0"/>
              <a:t>2025-10-09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143000"/>
            <a:ext cx="4359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1D7E4-2BA5-4D46-981E-902652DD9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70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D7E4-2BA5-4D46-981E-902652DD937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186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D7E4-2BA5-4D46-981E-902652DD937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37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534FB-DB33-5CC4-F65A-6D7FFD2E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50EA57-96F4-5EF9-98DE-95E57B9D9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7D5A68-FF90-E953-0394-B4E4C9E6C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5341A-ABE2-547C-5A27-3442AD85A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D7E4-2BA5-4D46-981E-902652DD937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946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78CC-68EB-72AF-0D40-52476F5B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DF658B-435B-7F90-D63B-F42DE3C59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49354C-4B0C-E95F-4D59-C24A60779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A6F7DB-E7A2-A35F-EA30-409EE98D0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D7E4-2BA5-4D46-981E-902652DD937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800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2019300"/>
            <a:ext cx="37084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609600" y="-139700"/>
            <a:ext cx="3263900" cy="3238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7988300" y="4635500"/>
            <a:ext cx="2819400" cy="279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21000"/>
          </a:blip>
          <a:stretch>
            <a:fillRect/>
          </a:stretch>
        </p:blipFill>
        <p:spPr>
          <a:xfrm>
            <a:off x="2641600" y="2387600"/>
            <a:ext cx="2095500" cy="208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3009900"/>
            <a:ext cx="1384300" cy="1384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921500" y="1739900"/>
            <a:ext cx="28448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en-US" sz="1800" b="0" i="0" u="none" strike="noStrike" spc="-100">
                <a:solidFill>
                  <a:srgbClr val="4C4747"/>
                </a:solidFill>
                <a:latin typeface="S-Core Dream 5 Medium"/>
              </a:rPr>
              <a:t>TEAM  DATACODE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2700000">
            <a:off x="1333500" y="1371600"/>
            <a:ext cx="2489200" cy="24892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622300" y="2913469"/>
            <a:ext cx="9907181" cy="236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6240"/>
              </a:lnSpc>
            </a:pPr>
            <a:r>
              <a:rPr lang="en-US" sz="4300" b="1" i="0" u="none" strike="noStrike" dirty="0">
                <a:solidFill>
                  <a:srgbClr val="4C4747"/>
                </a:solidFill>
                <a:latin typeface="Bebas"/>
              </a:rPr>
              <a:t>IT </a:t>
            </a:r>
            <a:r>
              <a:rPr lang="ko-KR" sz="4300" b="1" i="0" u="none" strike="noStrike" dirty="0">
                <a:solidFill>
                  <a:srgbClr val="4C4747"/>
                </a:solidFill>
                <a:ea typeface="Bebas"/>
              </a:rPr>
              <a:t>아웃소싱</a:t>
            </a:r>
            <a:r>
              <a:rPr lang="en-US" altLang="ko-KR" sz="4300" b="1" i="0" u="none" strike="noStrike" dirty="0">
                <a:solidFill>
                  <a:srgbClr val="4C4747"/>
                </a:solidFill>
                <a:ea typeface="Bebas"/>
              </a:rPr>
              <a:t> </a:t>
            </a:r>
            <a:r>
              <a:rPr lang="ko-KR" altLang="en-US" sz="4300" b="1" i="0" u="none" strike="noStrike" dirty="0">
                <a:solidFill>
                  <a:srgbClr val="4C4747"/>
                </a:solidFill>
                <a:ea typeface="Bebas"/>
              </a:rPr>
              <a:t>플랫폼</a:t>
            </a:r>
            <a:endParaRPr lang="en-US" altLang="ko-KR" sz="4300" b="1" dirty="0">
              <a:solidFill>
                <a:srgbClr val="4C4747"/>
              </a:solidFill>
              <a:ea typeface="Bebas"/>
            </a:endParaRPr>
          </a:p>
          <a:p>
            <a:pPr lvl="0" algn="r">
              <a:lnSpc>
                <a:spcPct val="106240"/>
              </a:lnSpc>
            </a:pPr>
            <a:r>
              <a:rPr lang="ko-KR" altLang="en-US" sz="4300" b="1" i="0" u="none" strike="noStrike" dirty="0">
                <a:solidFill>
                  <a:srgbClr val="4C4747"/>
                </a:solidFill>
                <a:ea typeface="Bebas"/>
              </a:rPr>
              <a:t>데이터 기반</a:t>
            </a:r>
            <a:endParaRPr lang="en-US" altLang="ko-KR" sz="4300" b="1" i="0" u="none" strike="noStrike" dirty="0">
              <a:solidFill>
                <a:srgbClr val="4C4747"/>
              </a:solidFill>
              <a:ea typeface="Bebas"/>
            </a:endParaRPr>
          </a:p>
          <a:p>
            <a:pPr lvl="0" algn="r">
              <a:lnSpc>
                <a:spcPct val="106240"/>
              </a:lnSpc>
            </a:pPr>
            <a:r>
              <a:rPr lang="ko-KR" altLang="en-US" sz="4300" b="1" dirty="0">
                <a:solidFill>
                  <a:srgbClr val="4C50BB"/>
                </a:solidFill>
                <a:ea typeface="Bebas"/>
              </a:rPr>
              <a:t>전문가 </a:t>
            </a:r>
            <a:r>
              <a:rPr lang="en-US" altLang="ko-KR" sz="4300" b="1" dirty="0">
                <a:solidFill>
                  <a:srgbClr val="4C50BB"/>
                </a:solidFill>
                <a:ea typeface="Bebas"/>
              </a:rPr>
              <a:t>– </a:t>
            </a:r>
            <a:r>
              <a:rPr lang="ko-KR" altLang="en-US" sz="4300" b="1" dirty="0">
                <a:solidFill>
                  <a:srgbClr val="4C50BB"/>
                </a:solidFill>
                <a:ea typeface="Bebas"/>
              </a:rPr>
              <a:t>소비자 거래 현황 파악</a:t>
            </a:r>
            <a:endParaRPr lang="en-US" altLang="ko-KR" sz="4300" b="1" dirty="0">
              <a:solidFill>
                <a:srgbClr val="4C50BB"/>
              </a:solidFill>
              <a:ea typeface="Bebas"/>
            </a:endParaRPr>
          </a:p>
          <a:p>
            <a:pPr lvl="0" algn="r">
              <a:lnSpc>
                <a:spcPct val="106240"/>
              </a:lnSpc>
            </a:pPr>
            <a:r>
              <a:rPr lang="ko-KR" altLang="en-US" sz="4300" b="1" dirty="0">
                <a:solidFill>
                  <a:srgbClr val="4C50BB"/>
                </a:solidFill>
                <a:ea typeface="Bebas"/>
              </a:rPr>
              <a:t>및 </a:t>
            </a:r>
            <a:r>
              <a:rPr lang="ko-KR" altLang="en-US" sz="4300" b="1" i="0" u="none" strike="noStrike" dirty="0">
                <a:solidFill>
                  <a:srgbClr val="4C50BB"/>
                </a:solidFill>
                <a:ea typeface="Bebas"/>
              </a:rPr>
              <a:t>거래 </a:t>
            </a:r>
            <a:r>
              <a:rPr lang="ko-KR" altLang="en-US" sz="4300" b="1" i="0" u="none" strike="noStrike" dirty="0" err="1">
                <a:solidFill>
                  <a:srgbClr val="4C50BB"/>
                </a:solidFill>
                <a:ea typeface="Bebas"/>
              </a:rPr>
              <a:t>성사율</a:t>
            </a:r>
            <a:r>
              <a:rPr lang="ko-KR" altLang="en-US" sz="4300" b="1" i="0" u="none" strike="noStrike" dirty="0">
                <a:solidFill>
                  <a:srgbClr val="4C50BB"/>
                </a:solidFill>
                <a:ea typeface="Bebas"/>
              </a:rPr>
              <a:t> 향상 방안</a:t>
            </a:r>
            <a:endParaRPr lang="ko-KR" sz="4300" b="1" i="0" u="none" strike="noStrike" dirty="0">
              <a:solidFill>
                <a:srgbClr val="4C50BB"/>
              </a:solidFill>
              <a:ea typeface="Beb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2857500"/>
            <a:ext cx="8382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327400" y="25400"/>
            <a:ext cx="2603500" cy="257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8000"/>
          </a:blip>
          <a:stretch>
            <a:fillRect/>
          </a:stretch>
        </p:blipFill>
        <p:spPr>
          <a:xfrm rot="-2700000">
            <a:off x="-533400" y="4800600"/>
            <a:ext cx="2451100" cy="2451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1155700" y="4254500"/>
            <a:ext cx="2019300" cy="1993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9375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8700" b="0" i="0" u="none" strike="noStrike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2700" y="3759200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추진</a:t>
            </a:r>
            <a:r>
              <a:rPr lang="en-US" sz="3700" b="0" i="0" u="none" strike="noStrike" spc="-300">
                <a:solidFill>
                  <a:srgbClr val="FFFFFF"/>
                </a:solidFill>
              </a:rPr>
              <a:t> </a:t>
            </a: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배경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3098800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추진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배경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3657600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sz="1900" b="0" i="0" u="none" strike="noStrike" spc="-100">
                <a:solidFill>
                  <a:srgbClr val="4C50BB"/>
                </a:solidFill>
                <a:ea typeface="Noto Sans CJK KR Regular"/>
              </a:rPr>
              <a:t>회사</a:t>
            </a:r>
            <a:r>
              <a:rPr lang="en-US" sz="1900" b="0" i="0" u="none" strike="noStrike" spc="-100">
                <a:solidFill>
                  <a:srgbClr val="4C50BB"/>
                </a:solidFill>
              </a:rPr>
              <a:t> </a:t>
            </a:r>
            <a:r>
              <a:rPr lang="ko-KR" sz="1900" b="0" i="0" u="none" strike="noStrike" spc="-100">
                <a:solidFill>
                  <a:srgbClr val="4C50BB"/>
                </a:solidFill>
                <a:ea typeface="Noto Sans CJK KR Regular"/>
              </a:rPr>
              <a:t>정황</a:t>
            </a:r>
            <a:r>
              <a:rPr lang="en-US" sz="1900" b="0" i="0" u="none" strike="noStrike" spc="-100">
                <a:solidFill>
                  <a:srgbClr val="4C50BB"/>
                </a:solidFill>
              </a:rPr>
              <a:t> </a:t>
            </a:r>
            <a:r>
              <a:rPr lang="ko-KR" sz="1900" b="0" i="0" u="none" strike="noStrike" spc="-100">
                <a:solidFill>
                  <a:srgbClr val="4C50BB"/>
                </a:solidFill>
                <a:ea typeface="Noto Sans CJK KR Regular"/>
              </a:rPr>
              <a:t>파악</a:t>
            </a:r>
            <a:r>
              <a:rPr lang="en-US" sz="1900" b="0" i="0" u="none" strike="noStrike" spc="-100">
                <a:solidFill>
                  <a:srgbClr val="4C50BB"/>
                </a:solidFill>
              </a:rPr>
              <a:t> 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00100" y="4559300"/>
            <a:ext cx="3187700" cy="316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06800" y="1661087"/>
            <a:ext cx="6172200" cy="148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887"/>
              </a:lnSpc>
            </a:pP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해당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IT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아웃소싱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플랫폼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(ITO) IT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기술이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필요한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고객을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서비스에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등록된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IT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전문가와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매칭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시켜주어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,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고객이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전문가에게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지불하는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금액의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일부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수수료를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받아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매출을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내는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구조로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서비스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형태를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취함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3835400" y="962587"/>
            <a:ext cx="36322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en-US" sz="2200" b="0" i="0" u="none" strike="noStrike" spc="-100" dirty="0">
                <a:solidFill>
                  <a:srgbClr val="4C4747"/>
                </a:solidFill>
              </a:rPr>
              <a:t>IT </a:t>
            </a:r>
            <a:r>
              <a:rPr lang="ko-KR" sz="2200" b="0" i="0" u="none" strike="noStrike" spc="-100" dirty="0">
                <a:solidFill>
                  <a:srgbClr val="4C4747"/>
                </a:solidFill>
                <a:ea typeface="Noto Sans CJK KR Regular"/>
              </a:rPr>
              <a:t>아웃소싱</a:t>
            </a:r>
            <a:r>
              <a:rPr lang="en-US" sz="22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2200" b="0" i="0" u="none" strike="noStrike" spc="-100" dirty="0">
                <a:solidFill>
                  <a:srgbClr val="4C4747"/>
                </a:solidFill>
                <a:ea typeface="Noto Sans CJK KR Regular"/>
              </a:rPr>
              <a:t>플랫폼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100" y="1140387"/>
            <a:ext cx="88900" cy="8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606800" y="4051300"/>
            <a:ext cx="6413500" cy="186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전문가와 소비자 간 가격 기대 차이로 인한 마찰 증가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높은 수수료로 인한 거래 취소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의뢰에 대한 전문가의 무응답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서비스 외의 개인적인 연락을 취하는 고객 풀 증가로 인한 거래 정체</a:t>
            </a:r>
            <a:endParaRPr lang="en-US" altLang="ko-KR" sz="1900" b="0" i="0" u="none" strike="noStrike" spc="-1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35400" y="3489887"/>
            <a:ext cx="36322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sz="2200" b="0" i="0" u="none" strike="noStrike" spc="-100">
                <a:solidFill>
                  <a:srgbClr val="4C4747"/>
                </a:solidFill>
                <a:ea typeface="Noto Sans CJK KR Regular"/>
              </a:rPr>
              <a:t>문제점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100" y="3667687"/>
            <a:ext cx="88900" cy="8890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4451D6EE-9CE9-74CF-CCB1-DD203974F040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03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D67DB42-BBDC-5936-13C1-A7743B0AD723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추진</a:t>
            </a:r>
            <a:r>
              <a:rPr 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 </a:t>
            </a:r>
            <a:r>
              <a:rPr lang="ko-KR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배경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28DCD3-DFF1-55FA-EDD3-23A0484A7E93}"/>
              </a:ext>
            </a:extLst>
          </p:cNvPr>
          <p:cNvSpPr txBox="1"/>
          <p:nvPr/>
        </p:nvSpPr>
        <p:spPr>
          <a:xfrm>
            <a:off x="1130300" y="6150258"/>
            <a:ext cx="7823200" cy="948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31887"/>
              </a:lnSpc>
              <a:buFont typeface="Symbol" panose="05050102010706020507" pitchFamily="18" charset="2"/>
              <a:buChar char="Þ"/>
            </a:pPr>
            <a:r>
              <a:rPr lang="ko-KR" altLang="en-US" sz="2200" spc="-100" dirty="0">
                <a:solidFill>
                  <a:srgbClr val="4C4747"/>
                </a:solidFill>
                <a:ea typeface="Noto Sans CJK KR Regular"/>
              </a:rPr>
              <a:t>데이터 분석을 기반으로 거래 취소 주 원인을 파악하고</a:t>
            </a:r>
            <a:endParaRPr lang="en-US" altLang="ko-KR" sz="2200" spc="-100" dirty="0">
              <a:solidFill>
                <a:srgbClr val="4C4747"/>
              </a:solidFill>
              <a:ea typeface="Noto Sans CJK KR Regular"/>
            </a:endParaRPr>
          </a:p>
          <a:p>
            <a:pPr lvl="0" algn="l">
              <a:lnSpc>
                <a:spcPct val="131887"/>
              </a:lnSpc>
            </a:pPr>
            <a:r>
              <a:rPr lang="en-US" altLang="ko-KR" sz="2200" spc="-100" dirty="0">
                <a:solidFill>
                  <a:srgbClr val="4C4747"/>
                </a:solidFill>
                <a:ea typeface="Noto Sans CJK KR Regular"/>
              </a:rPr>
              <a:t>       </a:t>
            </a:r>
            <a:r>
              <a:rPr lang="ko-KR" altLang="en-US" sz="2200" b="0" i="0" u="none" strike="noStrike" spc="-100" dirty="0">
                <a:solidFill>
                  <a:srgbClr val="4C4747"/>
                </a:solidFill>
                <a:ea typeface="Noto Sans CJK KR Regular"/>
              </a:rPr>
              <a:t>전문가와 고객의 니즈를 분석하여 거래 성사율을 높일 필요성 대두</a:t>
            </a:r>
            <a:r>
              <a:rPr lang="en-US" altLang="ko-KR" sz="2200" b="0" i="0" u="none" strike="noStrike" spc="-100" dirty="0">
                <a:solidFill>
                  <a:srgbClr val="4C4747"/>
                </a:solidFill>
                <a:ea typeface="Noto Sans CJK KR Regular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3098800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추진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배경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3657600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회사</a:t>
            </a:r>
            <a:r>
              <a:rPr lang="en-US" sz="1900" b="0" i="0" u="none" strike="noStrike" spc="-100" dirty="0">
                <a:solidFill>
                  <a:srgbClr val="4C50BB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정황</a:t>
            </a:r>
            <a:r>
              <a:rPr lang="en-US" sz="1900" b="0" i="0" u="none" strike="noStrike" spc="-100" dirty="0">
                <a:solidFill>
                  <a:srgbClr val="4C50BB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파악</a:t>
            </a:r>
            <a:r>
              <a:rPr lang="en-US" sz="1900" b="0" i="0" u="none" strike="noStrike" spc="-100" dirty="0">
                <a:solidFill>
                  <a:srgbClr val="4C50BB"/>
                </a:solidFill>
              </a:rPr>
              <a:t>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4076700" y="2235200"/>
            <a:ext cx="63881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en-US" sz="1900" b="0" i="0" u="none" strike="noStrike" spc="-100" dirty="0">
                <a:solidFill>
                  <a:srgbClr val="4C4747"/>
                </a:solidFill>
              </a:rPr>
              <a:t>IT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아웃소싱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시장에서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외주를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의뢰하는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소비자의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서비스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니즈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파악을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통해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의뢰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고객들에게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차별화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서비스를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제공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아웃소싱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전문가들과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구매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소비자들의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거래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성사율을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높이기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위한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차별화된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서비스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홍보를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하고자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함</a:t>
            </a:r>
            <a:endParaRPr lang="en-US" altLang="ko-KR" sz="1900" b="0" i="0" u="none" strike="noStrike" spc="-100" dirty="0">
              <a:solidFill>
                <a:srgbClr val="4C4747"/>
              </a:solidFill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적절한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거래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수수료를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책정하여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소비자와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전문가의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거래가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지속적으로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이어질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수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있는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방안을</a:t>
            </a:r>
            <a:r>
              <a:rPr lang="en-US" sz="19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도출</a:t>
            </a:r>
          </a:p>
          <a:p>
            <a:pPr lvl="0" algn="l">
              <a:lnSpc>
                <a:spcPct val="131887"/>
              </a:lnSpc>
            </a:pPr>
            <a:endParaRPr lang="ko-KR" sz="1900" b="0" i="0" u="none" strike="noStrike" spc="-1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05300" y="1701800"/>
            <a:ext cx="36322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sz="2200" b="0" i="0" u="none" strike="noStrike" spc="-100">
                <a:solidFill>
                  <a:srgbClr val="4C4747"/>
                </a:solidFill>
                <a:ea typeface="Noto Sans CJK KR Regular"/>
              </a:rPr>
              <a:t>기업</a:t>
            </a:r>
            <a:r>
              <a:rPr lang="en-US" sz="2200" b="0" i="0" u="none" strike="noStrike" spc="-100">
                <a:solidFill>
                  <a:srgbClr val="4C4747"/>
                </a:solidFill>
              </a:rPr>
              <a:t> </a:t>
            </a:r>
            <a:r>
              <a:rPr lang="ko-KR" sz="2200" b="0" i="0" u="none" strike="noStrike" spc="-100">
                <a:solidFill>
                  <a:srgbClr val="4C4747"/>
                </a:solidFill>
                <a:ea typeface="Noto Sans CJK KR Regular"/>
              </a:rPr>
              <a:t>요구</a:t>
            </a:r>
            <a:r>
              <a:rPr lang="en-US" sz="2200" b="0" i="0" u="none" strike="noStrike" spc="-100">
                <a:solidFill>
                  <a:srgbClr val="4C4747"/>
                </a:solidFill>
              </a:rPr>
              <a:t> </a:t>
            </a:r>
            <a:r>
              <a:rPr lang="ko-KR" sz="2200" b="0" i="0" u="none" strike="noStrike" spc="-100">
                <a:solidFill>
                  <a:srgbClr val="4C4747"/>
                </a:solidFill>
                <a:ea typeface="Noto Sans CJK KR Regular"/>
              </a:rPr>
              <a:t>사항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1879600"/>
            <a:ext cx="88900" cy="88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51000" y="5308600"/>
            <a:ext cx="88138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887"/>
              </a:lnSpc>
            </a:pP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당사의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경우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,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거래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성사율을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다시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올리기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위해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활동중인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전문가들의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풀을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확장하고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,</a:t>
            </a:r>
          </a:p>
          <a:p>
            <a:pPr lvl="0" algn="l">
              <a:lnSpc>
                <a:spcPct val="131887"/>
              </a:lnSpc>
            </a:pP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고객에게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신뢰를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쌓을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방안을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모색할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필요가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 </a:t>
            </a:r>
            <a:r>
              <a:rPr lang="ko-KR" sz="2000" b="0" i="0" u="none" strike="noStrike" dirty="0">
                <a:solidFill>
                  <a:srgbClr val="4C4747"/>
                </a:solidFill>
                <a:ea typeface="Noto Sans CJK KR Regular"/>
              </a:rPr>
              <a:t>있음</a:t>
            </a:r>
            <a:r>
              <a:rPr lang="en-US" sz="2000" b="0" i="0" u="none" strike="noStrike" dirty="0">
                <a:solidFill>
                  <a:srgbClr val="4C4747"/>
                </a:solidFill>
              </a:rPr>
              <a:t> 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FD2735FD-335B-0C45-6F67-2DEE018BAC29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0</a:t>
            </a: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4</a:t>
            </a: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  <a:latin typeface="Noto Sans CJK KR Regular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8DAD1BF2-7C2A-1C58-4032-BA7BF4DCC2C9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추진</a:t>
            </a:r>
            <a:r>
              <a:rPr lang="en-US" sz="2000" b="0" i="0" u="none" strike="noStrike" spc="-3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배경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B7AF494A-39DA-B347-17DE-79C19A21A4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800100" y="4559300"/>
            <a:ext cx="31877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8191500" y="4381500"/>
            <a:ext cx="2095500" cy="208280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2BF12706-B6B3-AE47-A512-9E156D96D581}"/>
              </a:ext>
            </a:extLst>
          </p:cNvPr>
          <p:cNvGrpSpPr/>
          <p:nvPr/>
        </p:nvGrpSpPr>
        <p:grpSpPr>
          <a:xfrm>
            <a:off x="4400904" y="309376"/>
            <a:ext cx="4310524" cy="2186573"/>
            <a:chOff x="28012" y="4364490"/>
            <a:chExt cx="5575300" cy="2789367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540" y="4524957"/>
              <a:ext cx="4486920" cy="262890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4650" y="5528851"/>
              <a:ext cx="2374900" cy="93980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012" y="4364490"/>
              <a:ext cx="5575300" cy="6350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FB061C9-59E6-607E-E2C4-C219AEBDE7A6}"/>
              </a:ext>
            </a:extLst>
          </p:cNvPr>
          <p:cNvGrpSpPr/>
          <p:nvPr/>
        </p:nvGrpSpPr>
        <p:grpSpPr>
          <a:xfrm rot="20982972">
            <a:off x="3425590" y="2859186"/>
            <a:ext cx="4005902" cy="2673467"/>
            <a:chOff x="2960788" y="352164"/>
            <a:chExt cx="4435450" cy="30353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60938" y="352164"/>
              <a:ext cx="3035300" cy="30353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7">
              <a:alphaModFix amt="76000"/>
            </a:blip>
            <a:stretch>
              <a:fillRect/>
            </a:stretch>
          </p:blipFill>
          <p:spPr>
            <a:xfrm>
              <a:off x="2960788" y="863600"/>
              <a:ext cx="1981200" cy="19812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 rot="617028">
              <a:off x="3430688" y="1689100"/>
              <a:ext cx="8382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r">
                <a:lnSpc>
                  <a:spcPct val="115287"/>
                </a:lnSpc>
              </a:pPr>
              <a:r>
                <a:rPr lang="ko-KR" sz="1700" b="0" i="0" u="none" strike="noStrike" spc="-100">
                  <a:solidFill>
                    <a:srgbClr val="FFFFFF"/>
                  </a:solidFill>
                  <a:ea typeface="Noto Sans CJK KR Regular"/>
                </a:rPr>
                <a:t>중소기업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 rot="617028">
              <a:off x="5183288" y="1460500"/>
              <a:ext cx="1257300" cy="393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5287"/>
                </a:lnSpc>
              </a:pPr>
              <a:r>
                <a:rPr lang="ko-KR" sz="2200" b="0" i="0" u="none" strike="noStrike" spc="-100" dirty="0">
                  <a:solidFill>
                    <a:srgbClr val="FFFFFF"/>
                  </a:solidFill>
                  <a:ea typeface="Noto Sans CJK KR Regular"/>
                </a:rPr>
                <a:t>대기업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617028">
              <a:off x="4916587" y="1892300"/>
              <a:ext cx="1790700" cy="25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5287"/>
                </a:lnSpc>
              </a:pPr>
              <a:r>
                <a:rPr lang="ko-KR" sz="1400" b="0" i="0" u="none" strike="noStrike" spc="-100" dirty="0">
                  <a:solidFill>
                    <a:srgbClr val="FFFFFF"/>
                  </a:solidFill>
                  <a:ea typeface="Noto Sans CJK KR Regular"/>
                </a:rPr>
                <a:t>시장</a:t>
              </a:r>
              <a:r>
                <a:rPr lang="en-US" sz="1400" b="0" i="0" u="none" strike="noStrike" spc="-100" dirty="0">
                  <a:solidFill>
                    <a:srgbClr val="FFFFFF"/>
                  </a:solidFill>
                </a:rPr>
                <a:t> </a:t>
              </a:r>
              <a:r>
                <a:rPr lang="ko-KR" sz="1400" b="0" i="0" u="none" strike="noStrike" spc="-100" dirty="0">
                  <a:solidFill>
                    <a:srgbClr val="FFFFFF"/>
                  </a:solidFill>
                  <a:ea typeface="Noto Sans CJK KR Regular"/>
                </a:rPr>
                <a:t>점유율</a:t>
              </a:r>
              <a:r>
                <a:rPr lang="en-US" sz="1400" b="0" i="0" u="none" strike="noStrike" spc="-100" dirty="0">
                  <a:solidFill>
                    <a:srgbClr val="FFFFFF"/>
                  </a:solidFill>
                </a:rPr>
                <a:t> 62%</a:t>
              </a:r>
            </a:p>
          </p:txBody>
        </p:sp>
      </p:grpSp>
      <p:sp>
        <p:nvSpPr>
          <p:cNvPr id="14" name="TextBox 6">
            <a:extLst>
              <a:ext uri="{FF2B5EF4-FFF2-40B4-BE49-F238E27FC236}">
                <a16:creationId xmlns:a16="http://schemas.microsoft.com/office/drawing/2014/main" id="{84C371E0-D49F-1900-75D9-651C1B2F6FAF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0</a:t>
            </a: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5</a:t>
            </a: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  <a:latin typeface="Noto Sans CJK KR Regular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B2EB4AD-711C-CB79-BDCB-A494B38A96F3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추진</a:t>
            </a:r>
            <a:r>
              <a:rPr 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 </a:t>
            </a:r>
            <a:r>
              <a:rPr lang="ko-KR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배경</a:t>
            </a:r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17DC3C8F-25E4-5B18-72CA-3854A37F06D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17" name="TextBox 2">
            <a:extLst>
              <a:ext uri="{FF2B5EF4-FFF2-40B4-BE49-F238E27FC236}">
                <a16:creationId xmlns:a16="http://schemas.microsoft.com/office/drawing/2014/main" id="{03AA6945-A4CD-A0F3-DD66-FD7CF5732E90}"/>
              </a:ext>
            </a:extLst>
          </p:cNvPr>
          <p:cNvSpPr txBox="1"/>
          <p:nvPr/>
        </p:nvSpPr>
        <p:spPr>
          <a:xfrm>
            <a:off x="2222820" y="1059537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추진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배경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 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D04B56D9-896D-88DF-6C0B-4ABF05BF36F5}"/>
              </a:ext>
            </a:extLst>
          </p:cNvPr>
          <p:cNvSpPr txBox="1"/>
          <p:nvPr/>
        </p:nvSpPr>
        <p:spPr>
          <a:xfrm>
            <a:off x="2222820" y="1618337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기업별 니즈 분석</a:t>
            </a:r>
            <a:endParaRPr lang="en-US" altLang="ko-KR" sz="1900" b="0" i="0" u="none" strike="noStrike" spc="-100" dirty="0">
              <a:solidFill>
                <a:srgbClr val="4C50BB"/>
              </a:solidFill>
              <a:ea typeface="Noto Sans CJK KR Regular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9715520-C91D-B13F-2C72-7C581014C759}"/>
              </a:ext>
            </a:extLst>
          </p:cNvPr>
          <p:cNvGrpSpPr/>
          <p:nvPr/>
        </p:nvGrpSpPr>
        <p:grpSpPr>
          <a:xfrm>
            <a:off x="7111070" y="2555073"/>
            <a:ext cx="3615248" cy="3371365"/>
            <a:chOff x="6756400" y="4065624"/>
            <a:chExt cx="4051300" cy="3939152"/>
          </a:xfrm>
        </p:grpSpPr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14380E44-5B78-B462-94CA-E164C539F48E}"/>
                </a:ext>
              </a:extLst>
            </p:cNvPr>
            <p:cNvSpPr txBox="1"/>
            <p:nvPr/>
          </p:nvSpPr>
          <p:spPr>
            <a:xfrm>
              <a:off x="6756400" y="6290276"/>
              <a:ext cx="4051300" cy="1714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9440"/>
                </a:lnSpc>
              </a:pPr>
              <a:r>
                <a:rPr lang="ko-KR" sz="1900" b="1" i="0" u="none" strike="noStrike" spc="-100" dirty="0">
                  <a:solidFill>
                    <a:srgbClr val="4C4747"/>
                  </a:solidFill>
                  <a:ea typeface="Noto Sans CJK KR Regular"/>
                </a:rPr>
                <a:t>핵심</a:t>
              </a:r>
              <a:r>
                <a:rPr lang="en-US" sz="1900" b="1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900" b="1" i="0" u="none" strike="noStrike" spc="-100" dirty="0">
                  <a:solidFill>
                    <a:srgbClr val="4C4747"/>
                  </a:solidFill>
                  <a:ea typeface="Noto Sans CJK KR Regular"/>
                </a:rPr>
                <a:t>니즈</a:t>
              </a:r>
            </a:p>
            <a:p>
              <a:pPr lvl="0" algn="ctr">
                <a:lnSpc>
                  <a:spcPct val="139440"/>
                </a:lnSpc>
              </a:pP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전문기술이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부족한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기술적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과제를</a:t>
              </a:r>
              <a:endParaRPr lang="en-US" altLang="ko-KR" sz="1700" spc="-100" dirty="0">
                <a:solidFill>
                  <a:srgbClr val="4C4747"/>
                </a:solidFill>
                <a:ea typeface="Noto Sans CJK KR Regular"/>
              </a:endParaRPr>
            </a:p>
            <a:p>
              <a:pPr lvl="0" algn="ctr">
                <a:lnSpc>
                  <a:spcPct val="139440"/>
                </a:lnSpc>
              </a:pP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해결하는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데에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요한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구현비용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감소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,</a:t>
              </a:r>
            </a:p>
            <a:p>
              <a:pPr lvl="0" algn="ctr">
                <a:lnSpc>
                  <a:spcPct val="139440"/>
                </a:lnSpc>
              </a:pP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대기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시간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최소화를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 </a:t>
              </a:r>
              <a:r>
                <a:rPr lang="ko-KR" sz="1700" b="0" i="0" u="none" strike="noStrike" spc="-100" dirty="0">
                  <a:solidFill>
                    <a:srgbClr val="4C4747"/>
                  </a:solidFill>
                  <a:ea typeface="Noto Sans CJK KR Regular"/>
                </a:rPr>
                <a:t>중시</a:t>
              </a:r>
              <a:r>
                <a:rPr lang="en-US" sz="1700" b="0" i="0" u="none" strike="noStrike" spc="-100" dirty="0">
                  <a:solidFill>
                    <a:srgbClr val="4C4747"/>
                  </a:solidFill>
                </a:rPr>
                <a:t> </a:t>
              </a:r>
            </a:p>
          </p:txBody>
        </p:sp>
        <p:pic>
          <p:nvPicPr>
            <p:cNvPr id="24" name="Picture 11">
              <a:extLst>
                <a:ext uri="{FF2B5EF4-FFF2-40B4-BE49-F238E27FC236}">
                  <a16:creationId xmlns:a16="http://schemas.microsoft.com/office/drawing/2014/main" id="{E03DEFB9-24CD-1311-6CEF-65B05A2AF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80000"/>
            </a:blip>
            <a:stretch>
              <a:fillRect/>
            </a:stretch>
          </p:blipFill>
          <p:spPr>
            <a:xfrm>
              <a:off x="7833952" y="4065624"/>
              <a:ext cx="1896195" cy="1896195"/>
            </a:xfrm>
            <a:prstGeom prst="rect">
              <a:avLst/>
            </a:prstGeom>
          </p:spPr>
        </p:pic>
        <p:pic>
          <p:nvPicPr>
            <p:cNvPr id="25" name="Picture 12">
              <a:extLst>
                <a:ext uri="{FF2B5EF4-FFF2-40B4-BE49-F238E27FC236}">
                  <a16:creationId xmlns:a16="http://schemas.microsoft.com/office/drawing/2014/main" id="{4395DC95-BB7B-D351-7268-5B595D120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97900" y="4618018"/>
              <a:ext cx="368300" cy="355600"/>
            </a:xfrm>
            <a:prstGeom prst="rect">
              <a:avLst/>
            </a:prstGeom>
          </p:spPr>
        </p:pic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74CBB6FD-0CF1-82EF-D290-392661DE6C84}"/>
                </a:ext>
              </a:extLst>
            </p:cNvPr>
            <p:cNvSpPr txBox="1"/>
            <p:nvPr/>
          </p:nvSpPr>
          <p:spPr>
            <a:xfrm>
              <a:off x="8115300" y="5011718"/>
              <a:ext cx="1346200" cy="393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5287"/>
                </a:lnSpc>
              </a:pPr>
              <a:r>
                <a:rPr lang="ko-KR" sz="2200" b="0" i="0" u="none" strike="noStrike" spc="-100" dirty="0">
                  <a:solidFill>
                    <a:srgbClr val="FFFFFF"/>
                  </a:solidFill>
                  <a:ea typeface="Noto Sans CJK KR Regular"/>
                </a:rPr>
                <a:t>대기업</a:t>
              </a:r>
            </a:p>
          </p:txBody>
        </p:sp>
      </p:grpSp>
      <p:sp>
        <p:nvSpPr>
          <p:cNvPr id="29" name="TextBox 3">
            <a:extLst>
              <a:ext uri="{FF2B5EF4-FFF2-40B4-BE49-F238E27FC236}">
                <a16:creationId xmlns:a16="http://schemas.microsoft.com/office/drawing/2014/main" id="{B6B2CCAB-B2E9-C7E7-4BA9-62C6997580EF}"/>
              </a:ext>
            </a:extLst>
          </p:cNvPr>
          <p:cNvSpPr txBox="1"/>
          <p:nvPr/>
        </p:nvSpPr>
        <p:spPr>
          <a:xfrm>
            <a:off x="83845" y="4595180"/>
            <a:ext cx="3499053" cy="10583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9440"/>
              </a:lnSpc>
            </a:pPr>
            <a:r>
              <a:rPr lang="ko-KR" sz="1900" b="1" i="0" u="none" strike="noStrike" spc="-100" dirty="0">
                <a:solidFill>
                  <a:srgbClr val="4C4747"/>
                </a:solidFill>
                <a:ea typeface="Noto Sans CJK KR Regular"/>
              </a:rPr>
              <a:t>핵심</a:t>
            </a:r>
            <a:r>
              <a:rPr lang="en-US" sz="1900" b="1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900" b="1" i="0" u="none" strike="noStrike" spc="-100" dirty="0">
                <a:solidFill>
                  <a:srgbClr val="4C4747"/>
                </a:solidFill>
                <a:ea typeface="Noto Sans CJK KR Regular"/>
              </a:rPr>
              <a:t>니즈</a:t>
            </a:r>
          </a:p>
          <a:p>
            <a:pPr lvl="0" algn="ctr">
              <a:lnSpc>
                <a:spcPct val="139440"/>
              </a:lnSpc>
            </a:pP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보안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유지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, 24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시간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연중무휴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비즈니스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운영을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위해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 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아웃소싱</a:t>
            </a:r>
            <a:r>
              <a:rPr lang="en-US" alt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ko-KR" sz="1700" b="0" i="0" u="none" strike="noStrike" spc="-100" dirty="0">
                <a:solidFill>
                  <a:srgbClr val="4C4747"/>
                </a:solidFill>
                <a:ea typeface="Noto Sans CJK KR Regular"/>
              </a:rPr>
              <a:t>이용</a:t>
            </a:r>
            <a:r>
              <a:rPr lang="en-US" sz="1700" b="0" i="0" u="none" strike="noStrike" spc="-100" dirty="0">
                <a:solidFill>
                  <a:srgbClr val="4C4747"/>
                </a:solidFill>
              </a:rPr>
              <a:t> 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3BC5B0D-9108-D753-D3F8-515FCC6AE8F8}"/>
              </a:ext>
            </a:extLst>
          </p:cNvPr>
          <p:cNvGrpSpPr/>
          <p:nvPr/>
        </p:nvGrpSpPr>
        <p:grpSpPr>
          <a:xfrm>
            <a:off x="1047905" y="2688662"/>
            <a:ext cx="1684166" cy="1603866"/>
            <a:chOff x="3080477" y="1330739"/>
            <a:chExt cx="1789332" cy="1745024"/>
          </a:xfrm>
        </p:grpSpPr>
        <p:pic>
          <p:nvPicPr>
            <p:cNvPr id="33" name="Picture 10">
              <a:extLst>
                <a:ext uri="{FF2B5EF4-FFF2-40B4-BE49-F238E27FC236}">
                  <a16:creationId xmlns:a16="http://schemas.microsoft.com/office/drawing/2014/main" id="{C51E1B97-9766-EA6B-5E3C-6401F9F1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6000"/>
            </a:blip>
            <a:stretch>
              <a:fillRect/>
            </a:stretch>
          </p:blipFill>
          <p:spPr>
            <a:xfrm>
              <a:off x="3080477" y="1330739"/>
              <a:ext cx="1789332" cy="1745024"/>
            </a:xfrm>
            <a:prstGeom prst="rect">
              <a:avLst/>
            </a:prstGeom>
          </p:spPr>
        </p:pic>
        <p:sp>
          <p:nvSpPr>
            <p:cNvPr id="34" name="TextBox 6">
              <a:extLst>
                <a:ext uri="{FF2B5EF4-FFF2-40B4-BE49-F238E27FC236}">
                  <a16:creationId xmlns:a16="http://schemas.microsoft.com/office/drawing/2014/main" id="{AF380A49-20A2-2DD5-9994-1D1CCAD61459}"/>
                </a:ext>
              </a:extLst>
            </p:cNvPr>
            <p:cNvSpPr txBox="1"/>
            <p:nvPr/>
          </p:nvSpPr>
          <p:spPr>
            <a:xfrm>
              <a:off x="3361071" y="2269785"/>
              <a:ext cx="1228144" cy="328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5287"/>
                </a:lnSpc>
              </a:pPr>
              <a:r>
                <a:rPr lang="ko-KR" sz="2200" b="0" i="0" u="none" strike="noStrike" spc="-100">
                  <a:solidFill>
                    <a:srgbClr val="FFFFFF"/>
                  </a:solidFill>
                  <a:ea typeface="Noto Sans CJK KR Regular"/>
                </a:rPr>
                <a:t>중소기업</a:t>
              </a:r>
            </a:p>
          </p:txBody>
        </p:sp>
        <p:pic>
          <p:nvPicPr>
            <p:cNvPr id="35" name="Picture 7">
              <a:extLst>
                <a:ext uri="{FF2B5EF4-FFF2-40B4-BE49-F238E27FC236}">
                  <a16:creationId xmlns:a16="http://schemas.microsoft.com/office/drawing/2014/main" id="{0D797A12-C74C-1A5F-7CD3-F4F2A05C1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43418" y="1878194"/>
              <a:ext cx="451864" cy="328090"/>
            </a:xfrm>
            <a:prstGeom prst="rect">
              <a:avLst/>
            </a:prstGeom>
          </p:spPr>
        </p:pic>
      </p:grpSp>
      <p:sp>
        <p:nvSpPr>
          <p:cNvPr id="38" name="화살표: 줄무늬가 있는 오른쪽 37">
            <a:extLst>
              <a:ext uri="{FF2B5EF4-FFF2-40B4-BE49-F238E27FC236}">
                <a16:creationId xmlns:a16="http://schemas.microsoft.com/office/drawing/2014/main" id="{D238E0B2-E717-F740-070A-DBD9BE8836DD}"/>
              </a:ext>
            </a:extLst>
          </p:cNvPr>
          <p:cNvSpPr/>
          <p:nvPr/>
        </p:nvSpPr>
        <p:spPr>
          <a:xfrm>
            <a:off x="225271" y="6339565"/>
            <a:ext cx="870257" cy="586906"/>
          </a:xfrm>
          <a:prstGeom prst="stripedRightArrow">
            <a:avLst>
              <a:gd name="adj1" fmla="val 42111"/>
              <a:gd name="adj2" fmla="val 44084"/>
            </a:avLst>
          </a:prstGeom>
          <a:solidFill>
            <a:srgbClr val="7B7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308CB530-4B09-EE0D-9440-17C618D5B029}"/>
              </a:ext>
            </a:extLst>
          </p:cNvPr>
          <p:cNvSpPr txBox="1"/>
          <p:nvPr/>
        </p:nvSpPr>
        <p:spPr>
          <a:xfrm>
            <a:off x="1220808" y="5948697"/>
            <a:ext cx="94361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887"/>
              </a:lnSpc>
            </a:pPr>
            <a:r>
              <a:rPr lang="en-US" sz="2000" dirty="0">
                <a:solidFill>
                  <a:srgbClr val="4C4747"/>
                </a:solidFill>
                <a:ea typeface="Noto Sans CJK KR Regular"/>
              </a:rPr>
              <a:t>L</a:t>
            </a:r>
            <a:r>
              <a:rPr lang="ko-KR" altLang="en-US" sz="2000" dirty="0">
                <a:solidFill>
                  <a:srgbClr val="4C4747"/>
                </a:solidFill>
                <a:ea typeface="Noto Sans CJK KR Regular"/>
              </a:rPr>
              <a:t>사의 문제점이었던 전문가의 무응답</a:t>
            </a:r>
            <a:r>
              <a:rPr lang="en-US" altLang="ko-KR" sz="20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2000" dirty="0">
                <a:solidFill>
                  <a:srgbClr val="4C4747"/>
                </a:solidFill>
                <a:ea typeface="Noto Sans CJK KR Regular"/>
              </a:rPr>
              <a:t>높은 수수료율이 거래 중단에 큰 영향을 미친 것으로 추정</a:t>
            </a:r>
            <a:r>
              <a:rPr lang="en-US" altLang="ko-KR" sz="20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2000" dirty="0">
                <a:solidFill>
                  <a:srgbClr val="4C4747"/>
                </a:solidFill>
                <a:ea typeface="Noto Sans CJK KR Regular"/>
              </a:rPr>
              <a:t>향후 </a:t>
            </a:r>
            <a:r>
              <a:rPr lang="ko-KR" altLang="en-US" sz="2000" dirty="0">
                <a:solidFill>
                  <a:srgbClr val="4C4747"/>
                </a:solidFill>
                <a:highlight>
                  <a:srgbClr val="FFFF00"/>
                </a:highlight>
                <a:ea typeface="Noto Sans CJK KR Regular"/>
              </a:rPr>
              <a:t>전문가의 응답 대기시간 최소화와 서비스 금액 정책을 개선할 필요가 있음</a:t>
            </a:r>
            <a:endParaRPr lang="en-US" sz="2000" b="0" i="0" u="none" strike="noStrike" dirty="0">
              <a:solidFill>
                <a:srgbClr val="4C4747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88900" y="2933700"/>
            <a:ext cx="8382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645400" y="50800"/>
            <a:ext cx="1981200" cy="1968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2700000">
            <a:off x="9067800" y="254000"/>
            <a:ext cx="2286000" cy="2324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8267700" y="4826000"/>
            <a:ext cx="2717800" cy="2692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en-US" sz="8700" b="0" i="0" u="none" strike="noStrike">
                <a:solidFill>
                  <a:srgbClr val="FFFFFF"/>
                </a:solidFill>
                <a:latin typeface="Noto Sans CJK KR Regular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759200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현황</a:t>
            </a:r>
            <a:r>
              <a:rPr lang="en-US" sz="3700" b="0" i="0" u="none" strike="noStrike" spc="-300">
                <a:solidFill>
                  <a:srgbClr val="FFFFFF"/>
                </a:solidFill>
              </a:rPr>
              <a:t> </a:t>
            </a: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및</a:t>
            </a:r>
            <a:r>
              <a:rPr lang="en-US" sz="3700" b="0" i="0" u="none" strike="noStrike" spc="-300">
                <a:solidFill>
                  <a:srgbClr val="FFFFFF"/>
                </a:solidFill>
              </a:rPr>
              <a:t> </a:t>
            </a: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개선</a:t>
            </a:r>
            <a:r>
              <a:rPr lang="en-US" sz="3700" b="0" i="0" u="none" strike="noStrike" spc="-300">
                <a:solidFill>
                  <a:srgbClr val="FFFFFF"/>
                </a:solidFill>
              </a:rPr>
              <a:t> </a:t>
            </a: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기회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" name="TextBox 3"/>
          <p:cNvSpPr txBox="1"/>
          <p:nvPr/>
        </p:nvSpPr>
        <p:spPr>
          <a:xfrm>
            <a:off x="673100" y="3098800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sz="3100" b="1" i="0" u="none" strike="noStrike" spc="-200">
                <a:solidFill>
                  <a:srgbClr val="4C4747"/>
                </a:solidFill>
                <a:ea typeface="Noto Sans CJK KR Regular"/>
              </a:rPr>
              <a:t>현황</a:t>
            </a:r>
            <a:r>
              <a:rPr lang="en-US" sz="3100" b="1" i="0" u="none" strike="noStrike" spc="-20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>
                <a:solidFill>
                  <a:srgbClr val="4C4747"/>
                </a:solidFill>
                <a:ea typeface="Noto Sans CJK KR Regular"/>
              </a:rPr>
              <a:t>및</a:t>
            </a:r>
            <a:r>
              <a:rPr lang="en-US" sz="3100" b="1" i="0" u="none" strike="noStrike" spc="-20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>
                <a:solidFill>
                  <a:srgbClr val="4C4747"/>
                </a:solidFill>
                <a:ea typeface="Noto Sans CJK KR Regular"/>
              </a:rPr>
              <a:t>개선</a:t>
            </a:r>
            <a:r>
              <a:rPr lang="en-US" sz="3100" b="1" i="0" u="none" strike="noStrike" spc="-20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>
                <a:solidFill>
                  <a:srgbClr val="4C4747"/>
                </a:solidFill>
                <a:ea typeface="Noto Sans CJK KR Regular"/>
              </a:rPr>
              <a:t>기회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100" y="3657600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en-US" sz="1900" b="0" i="0" u="none" strike="noStrike" spc="-100" dirty="0">
                <a:solidFill>
                  <a:srgbClr val="4C50BB"/>
                </a:solidFill>
              </a:rPr>
              <a:t>ITO</a:t>
            </a:r>
            <a:r>
              <a:rPr 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의</a:t>
            </a:r>
            <a:r>
              <a:rPr lang="en-US" sz="1900" b="0" i="0" u="none" strike="noStrike" spc="-100" dirty="0">
                <a:solidFill>
                  <a:srgbClr val="4C50BB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장점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698500" y="5295900"/>
            <a:ext cx="2298700" cy="227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746500" y="1689100"/>
            <a:ext cx="6489700" cy="337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0" b="1" i="0" u="none" strike="noStrike" dirty="0">
                <a:solidFill>
                  <a:srgbClr val="000000"/>
                </a:solidFill>
              </a:rPr>
              <a:t>Q: IT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아웃소싱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플랫폼이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주는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장점은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무엇입니까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1900" b="0" i="0" u="none" strike="noStrike" dirty="0">
                <a:solidFill>
                  <a:srgbClr val="000000"/>
                </a:solidFill>
              </a:rPr>
              <a:t>A:  </a:t>
            </a:r>
            <a:r>
              <a:rPr lang="ko-KR" sz="1900" b="0" i="0" u="none" strike="noStrike" dirty="0">
                <a:solidFill>
                  <a:srgbClr val="000000"/>
                </a:solidFill>
                <a:highlight>
                  <a:srgbClr val="FFFF00"/>
                </a:highlight>
                <a:ea typeface="Pretendard Regular"/>
              </a:rPr>
              <a:t>바로</a:t>
            </a:r>
            <a:r>
              <a:rPr lang="en-US" sz="1900" b="0" i="0" u="none" strike="noStrike" dirty="0">
                <a:solidFill>
                  <a:srgbClr val="000000"/>
                </a:solidFill>
                <a:highlight>
                  <a:srgbClr val="FFFF00"/>
                </a:highlight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highlight>
                  <a:srgbClr val="FFFF00"/>
                </a:highlight>
                <a:ea typeface="Pretendard Regular"/>
              </a:rPr>
              <a:t>비용절감</a:t>
            </a:r>
            <a:r>
              <a:rPr lang="en-US" sz="1900" b="0" i="0" u="none" strike="noStrike" dirty="0">
                <a:solidFill>
                  <a:srgbClr val="000000"/>
                </a:solidFill>
                <a:highlight>
                  <a:srgbClr val="FFFF00"/>
                </a:highlight>
              </a:rPr>
              <a:t>, </a:t>
            </a:r>
            <a:r>
              <a:rPr lang="ko-KR" sz="1900" b="0" i="0" u="none" strike="noStrike" dirty="0">
                <a:solidFill>
                  <a:srgbClr val="000000"/>
                </a:solidFill>
                <a:highlight>
                  <a:srgbClr val="FFFF00"/>
                </a:highlight>
                <a:ea typeface="Pretendard Regular"/>
              </a:rPr>
              <a:t>그리고</a:t>
            </a:r>
            <a:r>
              <a:rPr lang="en-US" sz="1900" b="0" i="0" u="none" strike="noStrike" dirty="0">
                <a:solidFill>
                  <a:srgbClr val="000000"/>
                </a:solidFill>
                <a:highlight>
                  <a:srgbClr val="FFFF00"/>
                </a:highlight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highlight>
                  <a:srgbClr val="FFFF00"/>
                </a:highlight>
                <a:ea typeface="Pretendard Regular"/>
              </a:rPr>
              <a:t>리스크</a:t>
            </a:r>
            <a:r>
              <a:rPr lang="en-US" sz="1900" b="1" i="0" u="none" strike="noStrike" dirty="0">
                <a:solidFill>
                  <a:srgbClr val="000000"/>
                </a:solidFill>
                <a:highlight>
                  <a:srgbClr val="FFFF00"/>
                </a:highlight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highlight>
                  <a:srgbClr val="FFFF00"/>
                </a:highlight>
                <a:ea typeface="Pretendard Regular"/>
              </a:rPr>
              <a:t>완화</a:t>
            </a:r>
            <a:r>
              <a:rPr lang="ko-KR" sz="1900" b="0" i="0" u="none" strike="noStrike" dirty="0">
                <a:solidFill>
                  <a:srgbClr val="000000"/>
                </a:solidFill>
                <a:highlight>
                  <a:srgbClr val="FFFF00"/>
                </a:highlight>
                <a:ea typeface="Pretendard Regular"/>
              </a:rPr>
              <a:t>입니다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.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시간이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없기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때문에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무언가를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대신해줄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플랫폼을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선호하는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것이죠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1900" b="0" i="0" u="none" strike="noStrike" dirty="0">
              <a:solidFill>
                <a:srgbClr val="000000"/>
              </a:solidFill>
            </a:endParaRPr>
          </a:p>
          <a:p>
            <a:pPr lvl="0" algn="l">
              <a:lnSpc>
                <a:spcPct val="116199"/>
              </a:lnSpc>
            </a:pPr>
            <a:r>
              <a:rPr lang="en-US" sz="1900" b="1" i="0" u="none" strike="noStrike" dirty="0">
                <a:solidFill>
                  <a:srgbClr val="000000"/>
                </a:solidFill>
              </a:rPr>
              <a:t>Q: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시간이나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비용적인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면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말고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플랫폼의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또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장점도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1" i="0" u="none" strike="noStrike" dirty="0">
                <a:solidFill>
                  <a:srgbClr val="000000"/>
                </a:solidFill>
                <a:ea typeface="Pretendard Regular"/>
              </a:rPr>
              <a:t>있을까요</a:t>
            </a:r>
            <a:r>
              <a:rPr lang="en-US" sz="1900" b="1" i="0" u="none" strike="noStrike" dirty="0">
                <a:solidFill>
                  <a:srgbClr val="000000"/>
                </a:solidFill>
              </a:rPr>
              <a:t>?</a:t>
            </a:r>
          </a:p>
          <a:p>
            <a:pPr lvl="0" algn="l">
              <a:lnSpc>
                <a:spcPct val="116199"/>
              </a:lnSpc>
            </a:pPr>
            <a:r>
              <a:rPr lang="en-US" sz="1900" b="0" i="0" u="none" strike="noStrike" dirty="0">
                <a:solidFill>
                  <a:srgbClr val="000000"/>
                </a:solidFill>
              </a:rPr>
              <a:t>A: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네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.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바로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앞서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같이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말씀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드렸던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리스크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완화가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바로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그것입니다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IT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분야의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비전문가이거나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,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전문성이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있다고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하더라도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꼼꼼하게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부분을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체크할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여건이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되지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못한다는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점입니다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.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이런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특성은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많은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리스크를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발생시킵니다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. 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플랫폼은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이런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위기를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관리하기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활용할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900" b="0" i="0" u="none" strike="noStrike" dirty="0">
                <a:solidFill>
                  <a:srgbClr val="000000"/>
                </a:solidFill>
                <a:ea typeface="Pretendard Regular"/>
              </a:rPr>
              <a:t>있습니다</a:t>
            </a:r>
            <a:r>
              <a:rPr lang="en-US" sz="1900" b="0" i="0" u="none" strike="noStrike" dirty="0">
                <a:solidFill>
                  <a:srgbClr val="000000"/>
                </a:solidFill>
              </a:rPr>
              <a:t>. 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451D6EE-9CE9-74CF-CCB1-DD203974F040}"/>
              </a:ext>
            </a:extLst>
          </p:cNvPr>
          <p:cNvSpPr txBox="1"/>
          <p:nvPr/>
        </p:nvSpPr>
        <p:spPr>
          <a:xfrm>
            <a:off x="-342900" y="6768272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07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7D67DB42-BBDC-5936-13C1-A7743B0AD723}"/>
              </a:ext>
            </a:extLst>
          </p:cNvPr>
          <p:cNvSpPr txBox="1"/>
          <p:nvPr/>
        </p:nvSpPr>
        <p:spPr>
          <a:xfrm>
            <a:off x="-2133600" y="6841969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287"/>
              </a:lnSpc>
            </a:pP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현황  및  개선  기회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451D6EE-9CE9-74CF-CCB1-DD203974F040}"/>
              </a:ext>
            </a:extLst>
          </p:cNvPr>
          <p:cNvSpPr txBox="1"/>
          <p:nvPr/>
        </p:nvSpPr>
        <p:spPr>
          <a:xfrm>
            <a:off x="9321800" y="6683934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84660"/>
              </a:lnSpc>
            </a:pP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  <a:latin typeface="Noto Sans CJK KR Regular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87B0AD7E-A596-ACAB-264C-4CEEA7E4585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4000"/>
          </a:blip>
          <a:stretch>
            <a:fillRect/>
          </a:stretch>
        </p:blipFill>
        <p:spPr>
          <a:xfrm>
            <a:off x="8110035" y="4775200"/>
            <a:ext cx="30861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6CCF-D46A-03D1-EFCB-42D3CFB83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AD2234-FCE4-0E65-C503-28A8E931863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" name="TextBox 3">
            <a:extLst>
              <a:ext uri="{FF2B5EF4-FFF2-40B4-BE49-F238E27FC236}">
                <a16:creationId xmlns:a16="http://schemas.microsoft.com/office/drawing/2014/main" id="{4F7E7854-707B-5857-85D3-64DD3341DC30}"/>
              </a:ext>
            </a:extLst>
          </p:cNvPr>
          <p:cNvSpPr txBox="1"/>
          <p:nvPr/>
        </p:nvSpPr>
        <p:spPr>
          <a:xfrm>
            <a:off x="546100" y="2959100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현황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및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개선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기회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199C3C8-DA31-F790-0613-DF753695B8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698500" y="5295900"/>
            <a:ext cx="2298700" cy="22733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18252F5-3310-FA22-C8A5-9FA5DBE87B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72AE0DF8-DDD4-9253-BC85-64948DBF2CF5}"/>
              </a:ext>
            </a:extLst>
          </p:cNvPr>
          <p:cNvSpPr txBox="1"/>
          <p:nvPr/>
        </p:nvSpPr>
        <p:spPr>
          <a:xfrm>
            <a:off x="9321800" y="6683934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84660"/>
              </a:lnSpc>
            </a:pP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  <a:latin typeface="Noto Sans CJK KR Regular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1D37BA5-D260-1088-8941-9C561FE779D7}"/>
              </a:ext>
            </a:extLst>
          </p:cNvPr>
          <p:cNvSpPr txBox="1"/>
          <p:nvPr/>
        </p:nvSpPr>
        <p:spPr>
          <a:xfrm>
            <a:off x="3822861" y="1822597"/>
            <a:ext cx="6642100" cy="28318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887"/>
              </a:lnSpc>
            </a:pPr>
            <a:endParaRPr lang="en-US" altLang="ko-KR" sz="1900" spc="-100" dirty="0">
              <a:solidFill>
                <a:srgbClr val="4C4747"/>
              </a:solidFill>
              <a:latin typeface="Noto Sans CJK KR Regular"/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최근 </a:t>
            </a:r>
            <a:r>
              <a:rPr lang="en-US" altLang="ko-KR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6</a:t>
            </a: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개월간 평균 거래 </a:t>
            </a:r>
            <a:r>
              <a:rPr lang="ko-KR" altLang="en-US" sz="1900" spc="-100" dirty="0" err="1">
                <a:solidFill>
                  <a:srgbClr val="4C4747"/>
                </a:solidFill>
                <a:latin typeface="Noto Sans CJK KR Regular"/>
                <a:ea typeface="Noto Sans CJK KR Regular"/>
              </a:rPr>
              <a:t>성사율</a:t>
            </a: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 </a:t>
            </a:r>
            <a:r>
              <a:rPr lang="en-US" altLang="ko-KR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30% </a:t>
            </a: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정체 </a:t>
            </a:r>
            <a:endParaRPr lang="en-US" altLang="ko-KR" sz="1900" spc="-100" dirty="0">
              <a:solidFill>
                <a:srgbClr val="4C4747"/>
              </a:solidFill>
              <a:latin typeface="Noto Sans CJK KR Regular"/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전문가의 평균 견적 가격과 소비자의 예산 간 차이</a:t>
            </a:r>
            <a:r>
              <a:rPr lang="en-US" altLang="ko-KR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: </a:t>
            </a: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평균 </a:t>
            </a:r>
            <a:r>
              <a:rPr lang="en-US" altLang="ko-KR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25% </a:t>
            </a: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이상</a:t>
            </a:r>
            <a:endParaRPr lang="en-US" altLang="ko-KR" sz="1900" spc="-100" dirty="0">
              <a:solidFill>
                <a:srgbClr val="4C4747"/>
              </a:solidFill>
              <a:latin typeface="Noto Sans CJK KR Regular"/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ko-KR" altLang="en-US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데이터 분석 결과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, </a:t>
            </a: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특정 서비스의 가격대가 경쟁사 대비 </a:t>
            </a:r>
            <a:r>
              <a:rPr lang="en-US" altLang="ko-KR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15% </a:t>
            </a:r>
            <a:r>
              <a:rPr lang="ko-KR" altLang="en-US" sz="1900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높음</a:t>
            </a:r>
            <a:endParaRPr lang="en-US" altLang="ko-KR" sz="1900" spc="-100" dirty="0">
              <a:solidFill>
                <a:srgbClr val="4C4747"/>
              </a:solidFill>
              <a:latin typeface="Noto Sans CJK KR Regular"/>
              <a:ea typeface="Noto Sans CJK KR Regular"/>
            </a:endParaRPr>
          </a:p>
          <a:p>
            <a:pPr marL="457200" lvl="0" indent="-457200" algn="l">
              <a:lnSpc>
                <a:spcPct val="131887"/>
              </a:lnSpc>
              <a:buAutoNum type="arabicParenR"/>
            </a:pPr>
            <a:r>
              <a:rPr lang="ko-KR" altLang="en-US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소비자 불만 증가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(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가격 관련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CS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문의 증가율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latin typeface="Noto Sans CJK KR Regular"/>
                <a:ea typeface="Noto Sans CJK KR Regular"/>
              </a:rPr>
              <a:t>20%)</a:t>
            </a:r>
            <a:endParaRPr lang="ko-KR" sz="1900" b="0" i="0" u="none" strike="noStrike" spc="-1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9ACC739D-F830-987F-AA46-F28A3FC09FA4}"/>
              </a:ext>
            </a:extLst>
          </p:cNvPr>
          <p:cNvSpPr txBox="1"/>
          <p:nvPr/>
        </p:nvSpPr>
        <p:spPr>
          <a:xfrm>
            <a:off x="546100" y="3517900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현황</a:t>
            </a:r>
            <a:endParaRPr lang="ko-KR" sz="1900" b="0" i="0" u="none" strike="noStrike" spc="-100" dirty="0">
              <a:solidFill>
                <a:srgbClr val="4C50BB"/>
              </a:solidFill>
              <a:ea typeface="Noto Sans CJK KR Regula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C58A7-9A06-BF49-8F65-34F8274D61E5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0</a:t>
            </a:r>
            <a:r>
              <a:rPr lang="en-US" sz="4000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8</a:t>
            </a: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  <a:latin typeface="Noto Sans CJK KR 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B6426-5FCE-8E45-1166-592C670A30D8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현황  및  개선  기회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sp>
        <p:nvSpPr>
          <p:cNvPr id="15" name="화살표: 줄무늬가 있는 오른쪽 14">
            <a:extLst>
              <a:ext uri="{FF2B5EF4-FFF2-40B4-BE49-F238E27FC236}">
                <a16:creationId xmlns:a16="http://schemas.microsoft.com/office/drawing/2014/main" id="{1FA8B9DA-88DE-D7AD-4C1F-4EEF2F864D87}"/>
              </a:ext>
            </a:extLst>
          </p:cNvPr>
          <p:cNvSpPr/>
          <p:nvPr/>
        </p:nvSpPr>
        <p:spPr>
          <a:xfrm>
            <a:off x="218921" y="5613400"/>
            <a:ext cx="882957" cy="586906"/>
          </a:xfrm>
          <a:prstGeom prst="stripedRightArrow">
            <a:avLst>
              <a:gd name="adj1" fmla="val 42111"/>
              <a:gd name="adj2" fmla="val 44084"/>
            </a:avLst>
          </a:prstGeom>
          <a:solidFill>
            <a:srgbClr val="7B7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FABB49C2-2CD4-74AA-5531-8FDB20E98B43}"/>
              </a:ext>
            </a:extLst>
          </p:cNvPr>
          <p:cNvSpPr txBox="1"/>
          <p:nvPr/>
        </p:nvSpPr>
        <p:spPr>
          <a:xfrm>
            <a:off x="1368762" y="5213203"/>
            <a:ext cx="9324638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1887"/>
              </a:lnSpc>
            </a:pPr>
            <a:r>
              <a:rPr lang="en-US" sz="2300" b="0" i="0" u="none" strike="noStrike" dirty="0">
                <a:solidFill>
                  <a:srgbClr val="4C4747"/>
                </a:solidFill>
                <a:ea typeface="Noto Sans CJK KR Regular"/>
              </a:rPr>
              <a:t>ITO</a:t>
            </a:r>
            <a:r>
              <a:rPr lang="ko-KR" altLang="en-US" sz="2300" b="0" i="0" u="none" strike="noStrike" dirty="0">
                <a:solidFill>
                  <a:srgbClr val="4C4747"/>
                </a:solidFill>
                <a:ea typeface="Noto Sans CJK KR Regular"/>
              </a:rPr>
              <a:t>의 장점인 비용절감과 리스크 완화가 전혀 해당되지 않는 현황으로 파악</a:t>
            </a:r>
            <a:endParaRPr lang="en-US" sz="2300" b="0" i="0" u="none" strike="noStrike" dirty="0">
              <a:solidFill>
                <a:srgbClr val="4C47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871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69EBB-1F68-7DB2-59D2-EF5DD332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3">
            <a:extLst>
              <a:ext uri="{FF2B5EF4-FFF2-40B4-BE49-F238E27FC236}">
                <a16:creationId xmlns:a16="http://schemas.microsoft.com/office/drawing/2014/main" id="{CA6C75C7-D9DE-9E86-526C-1DA32A7485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flipH="1">
            <a:off x="8521908" y="4813281"/>
            <a:ext cx="2995500" cy="2762786"/>
          </a:xfrm>
          <a:prstGeom prst="rect">
            <a:avLst/>
          </a:prstGeom>
          <a:effectLst>
            <a:outerShdw dist="238815" dir="17940000">
              <a:srgbClr val="4C50BB">
                <a:alpha val="100000"/>
              </a:srgbClr>
            </a:outerShdw>
          </a:effec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3EB00F8-65D1-EA97-AACF-2A78194FE8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945290" y="4359411"/>
            <a:ext cx="2032000" cy="20066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264171D-758D-54DA-3F63-7A3D43A82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331" y="986777"/>
            <a:ext cx="838200" cy="1143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D5A5AEE-2584-9EAB-3235-163BFEAB5F45}"/>
              </a:ext>
            </a:extLst>
          </p:cNvPr>
          <p:cNvSpPr txBox="1"/>
          <p:nvPr/>
        </p:nvSpPr>
        <p:spPr>
          <a:xfrm>
            <a:off x="4761533" y="219377"/>
            <a:ext cx="5101798" cy="180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06240"/>
              </a:lnSpc>
            </a:pPr>
            <a:r>
              <a:rPr lang="ko-KR" sz="5300" i="0" u="none" strike="noStrike" dirty="0">
                <a:solidFill>
                  <a:srgbClr val="4C4747"/>
                </a:solidFill>
                <a:ea typeface="Bebas"/>
              </a:rPr>
              <a:t>업계</a:t>
            </a:r>
            <a:r>
              <a:rPr lang="en-US" sz="5300" i="0" u="none" strike="noStrike" dirty="0">
                <a:solidFill>
                  <a:srgbClr val="4C4747"/>
                </a:solidFill>
              </a:rPr>
              <a:t> 60</a:t>
            </a:r>
            <a:r>
              <a:rPr lang="ko-KR" sz="5300" i="0" u="none" strike="noStrike" dirty="0">
                <a:solidFill>
                  <a:srgbClr val="4C4747"/>
                </a:solidFill>
                <a:ea typeface="Bebas"/>
              </a:rPr>
              <a:t>억</a:t>
            </a:r>
            <a:r>
              <a:rPr lang="en-US" sz="5300" i="0" u="none" strike="noStrike" dirty="0">
                <a:solidFill>
                  <a:srgbClr val="4C4747"/>
                </a:solidFill>
              </a:rPr>
              <a:t> </a:t>
            </a:r>
            <a:r>
              <a:rPr lang="ko-KR" sz="5300" i="0" u="none" strike="noStrike" dirty="0">
                <a:solidFill>
                  <a:srgbClr val="4C4747"/>
                </a:solidFill>
                <a:ea typeface="Bebas"/>
              </a:rPr>
              <a:t>투자</a:t>
            </a:r>
            <a:r>
              <a:rPr lang="en-US" sz="5300" i="0" u="none" strike="noStrike" dirty="0">
                <a:solidFill>
                  <a:srgbClr val="4C4747"/>
                </a:solidFill>
              </a:rPr>
              <a:t> </a:t>
            </a:r>
          </a:p>
          <a:p>
            <a:pPr lvl="0" algn="r">
              <a:lnSpc>
                <a:spcPct val="106240"/>
              </a:lnSpc>
            </a:pPr>
            <a:r>
              <a:rPr lang="ko-KR" sz="5300" i="0" u="none" strike="noStrike" dirty="0">
                <a:solidFill>
                  <a:srgbClr val="4C4747"/>
                </a:solidFill>
                <a:ea typeface="Bebas"/>
              </a:rPr>
              <a:t>유치</a:t>
            </a:r>
            <a:r>
              <a:rPr lang="en-US" sz="5300" i="0" u="none" strike="noStrike" dirty="0">
                <a:solidFill>
                  <a:srgbClr val="4C4747"/>
                </a:solidFill>
              </a:rPr>
              <a:t> </a:t>
            </a:r>
            <a:r>
              <a:rPr lang="ko-KR" sz="5300" i="0" u="none" strike="noStrike" dirty="0">
                <a:solidFill>
                  <a:srgbClr val="4C4747"/>
                </a:solidFill>
                <a:ea typeface="Bebas"/>
              </a:rPr>
              <a:t>성공</a:t>
            </a:r>
            <a:r>
              <a:rPr lang="en-US" sz="5300" i="0" u="none" strike="noStrike" dirty="0">
                <a:solidFill>
                  <a:srgbClr val="4C4747"/>
                </a:solidFill>
              </a:rPr>
              <a:t> </a:t>
            </a:r>
            <a:r>
              <a:rPr lang="ko-KR" sz="5300" i="0" u="none" strike="noStrike" dirty="0">
                <a:solidFill>
                  <a:srgbClr val="4C4747"/>
                </a:solidFill>
                <a:ea typeface="Bebas"/>
              </a:rPr>
              <a:t>사례</a:t>
            </a:r>
            <a:r>
              <a:rPr lang="en-US" sz="5300" i="0" u="none" strike="noStrike" dirty="0">
                <a:solidFill>
                  <a:srgbClr val="4C4747"/>
                </a:solidFill>
              </a:rPr>
              <a:t> 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B952FB5-C1CC-9B9B-691F-E560CDAC7E8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89BB26D-9E8D-70CD-F02A-4F8C48AB7450}"/>
              </a:ext>
            </a:extLst>
          </p:cNvPr>
          <p:cNvGrpSpPr/>
          <p:nvPr/>
        </p:nvGrpSpPr>
        <p:grpSpPr>
          <a:xfrm>
            <a:off x="317500" y="1828028"/>
            <a:ext cx="3805590" cy="495300"/>
            <a:chOff x="3289300" y="1333500"/>
            <a:chExt cx="3805590" cy="495300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69AE2BE-4788-CF24-5E90-EC71FF03B148}"/>
                </a:ext>
              </a:extLst>
            </p:cNvPr>
            <p:cNvSpPr txBox="1"/>
            <p:nvPr/>
          </p:nvSpPr>
          <p:spPr>
            <a:xfrm>
              <a:off x="3289300" y="1333500"/>
              <a:ext cx="305914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r">
                <a:lnSpc>
                  <a:spcPct val="115287"/>
                </a:lnSpc>
              </a:pPr>
              <a:r>
                <a:rPr lang="ko-KR" sz="2800" b="0" i="0" u="none" strike="noStrike" spc="200" dirty="0" err="1">
                  <a:solidFill>
                    <a:srgbClr val="4C4747"/>
                  </a:solidFill>
                  <a:ea typeface="S-Core Dream 7 ExtraBold"/>
                </a:rPr>
                <a:t>위시캣</a:t>
              </a:r>
              <a:endParaRPr lang="ko-KR" sz="2800" b="0" i="0" u="none" strike="noStrike" spc="200" dirty="0">
                <a:solidFill>
                  <a:srgbClr val="4C4747"/>
                </a:solidFill>
                <a:ea typeface="S-Core Dream 7 Extra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412B2D4-181E-6AA6-F608-540CEF1879EF}"/>
                </a:ext>
              </a:extLst>
            </p:cNvPr>
            <p:cNvSpPr txBox="1"/>
            <p:nvPr/>
          </p:nvSpPr>
          <p:spPr>
            <a:xfrm>
              <a:off x="4463130" y="1498271"/>
              <a:ext cx="2631760" cy="292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r">
                <a:lnSpc>
                  <a:spcPct val="115287"/>
                </a:lnSpc>
              </a:pPr>
              <a:r>
                <a:rPr lang="en-US" sz="1600" b="0" i="0" u="none" strike="noStrike" spc="-100" dirty="0" err="1">
                  <a:solidFill>
                    <a:srgbClr val="4C4747"/>
                  </a:solidFill>
                </a:rPr>
                <a:t>Wishket</a:t>
              </a:r>
              <a:endParaRPr lang="en-US" sz="1600" b="0" i="0" u="none" strike="noStrike" spc="-100" dirty="0">
                <a:solidFill>
                  <a:srgbClr val="4C4747"/>
                </a:solidFill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E0283EA-EBA3-2AB1-783F-634632C9FED1}"/>
              </a:ext>
            </a:extLst>
          </p:cNvPr>
          <p:cNvSpPr txBox="1"/>
          <p:nvPr/>
        </p:nvSpPr>
        <p:spPr>
          <a:xfrm>
            <a:off x="2231674" y="2921791"/>
            <a:ext cx="8502610" cy="1929609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요즘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IT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: IT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실무자가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쓰고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IT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실무자가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보는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IT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전문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미디어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,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평균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50%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이상의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가파른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성장세를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보이며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지난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9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월에는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활성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(MAU) 22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만명을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돌파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 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최근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정규직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개발자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채용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‘</a:t>
            </a:r>
            <a:r>
              <a:rPr lang="ko-KR" sz="1800" b="1" i="0" u="none" strike="noStrike" dirty="0" err="1">
                <a:solidFill>
                  <a:srgbClr val="000000"/>
                </a:solidFill>
                <a:ea typeface="Pretendard Regular"/>
              </a:rPr>
              <a:t>위시켓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잡스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'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클라우드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소프트웨어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인프라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서비스를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판매하는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‘</a:t>
            </a:r>
            <a:r>
              <a:rPr lang="ko-KR" sz="1800" b="1" i="0" u="none" strike="noStrike" dirty="0" err="1">
                <a:solidFill>
                  <a:srgbClr val="000000"/>
                </a:solidFill>
                <a:ea typeface="Pretendard Regular"/>
              </a:rPr>
              <a:t>위시켓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스토어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’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소프트웨어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전문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 err="1">
                <a:solidFill>
                  <a:srgbClr val="000000"/>
                </a:solidFill>
                <a:ea typeface="Pretendard Regular"/>
              </a:rPr>
              <a:t>버티컬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플랫폼으로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비즈니스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영역을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넓히고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.</a:t>
            </a:r>
          </a:p>
          <a:p>
            <a:pPr lvl="0" algn="l">
              <a:lnSpc>
                <a:spcPct val="116199"/>
              </a:lnSpc>
            </a:pPr>
            <a:endParaRPr lang="en-US" sz="18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651B6FA9-1DFA-0D98-49A6-43472578DA1A}"/>
              </a:ext>
            </a:extLst>
          </p:cNvPr>
          <p:cNvSpPr txBox="1"/>
          <p:nvPr/>
        </p:nvSpPr>
        <p:spPr>
          <a:xfrm>
            <a:off x="-342900" y="6768272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09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0D6DBCCD-07AE-5D4D-0ACB-BB2BAB583415}"/>
              </a:ext>
            </a:extLst>
          </p:cNvPr>
          <p:cNvSpPr txBox="1"/>
          <p:nvPr/>
        </p:nvSpPr>
        <p:spPr>
          <a:xfrm>
            <a:off x="-2133600" y="6841969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287"/>
              </a:lnSpc>
            </a:pP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현황  및  개선  기회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A07794D-007F-E9BF-71F4-A5CD3601D0E0}"/>
              </a:ext>
            </a:extLst>
          </p:cNvPr>
          <p:cNvGrpSpPr/>
          <p:nvPr/>
        </p:nvGrpSpPr>
        <p:grpSpPr>
          <a:xfrm>
            <a:off x="6599185" y="4548579"/>
            <a:ext cx="2183441" cy="529403"/>
            <a:chOff x="5009808" y="5076441"/>
            <a:chExt cx="2183441" cy="529403"/>
          </a:xfrm>
        </p:grpSpPr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DB0CBEB6-CE47-ED3A-8D15-8A004CA60D75}"/>
                </a:ext>
              </a:extLst>
            </p:cNvPr>
            <p:cNvSpPr txBox="1"/>
            <p:nvPr/>
          </p:nvSpPr>
          <p:spPr>
            <a:xfrm>
              <a:off x="5009808" y="5076441"/>
              <a:ext cx="172720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r">
                <a:lnSpc>
                  <a:spcPct val="115287"/>
                </a:lnSpc>
              </a:pPr>
              <a:r>
                <a:rPr lang="ko-KR" sz="2800" b="0" i="0" u="none" strike="noStrike" spc="200" dirty="0" err="1">
                  <a:solidFill>
                    <a:srgbClr val="4C4747"/>
                  </a:solidFill>
                  <a:ea typeface="S-Core Dream 7 ExtraBold"/>
                </a:rPr>
                <a:t>박우범</a:t>
              </a:r>
              <a:endParaRPr lang="ko-KR" sz="2800" b="0" i="0" u="none" strike="noStrike" spc="200" dirty="0">
                <a:solidFill>
                  <a:srgbClr val="4C4747"/>
                </a:solidFill>
                <a:ea typeface="S-Core Dream 7 ExtraBold"/>
              </a:endParaRPr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CBDBB7A7-01B7-AC6E-1D08-733FE8554636}"/>
                </a:ext>
              </a:extLst>
            </p:cNvPr>
            <p:cNvSpPr txBox="1"/>
            <p:nvPr/>
          </p:nvSpPr>
          <p:spPr>
            <a:xfrm>
              <a:off x="5707349" y="5313744"/>
              <a:ext cx="1485900" cy="292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r">
                <a:lnSpc>
                  <a:spcPct val="115287"/>
                </a:lnSpc>
              </a:pPr>
              <a:r>
                <a:rPr lang="ko-KR" sz="1600" b="0" i="0" u="none" strike="noStrike" spc="-100" dirty="0">
                  <a:solidFill>
                    <a:srgbClr val="4C4747"/>
                  </a:solidFill>
                  <a:ea typeface="S-Core Dream 5 Medium"/>
                </a:rPr>
                <a:t>대표</a:t>
              </a:r>
            </a:p>
          </p:txBody>
        </p:sp>
      </p:grpSp>
      <p:sp>
        <p:nvSpPr>
          <p:cNvPr id="20" name="TextBox 8">
            <a:extLst>
              <a:ext uri="{FF2B5EF4-FFF2-40B4-BE49-F238E27FC236}">
                <a16:creationId xmlns:a16="http://schemas.microsoft.com/office/drawing/2014/main" id="{1FDB9534-2D37-6577-AAC5-24C8A9FDB6EA}"/>
              </a:ext>
            </a:extLst>
          </p:cNvPr>
          <p:cNvSpPr txBox="1"/>
          <p:nvPr/>
        </p:nvSpPr>
        <p:spPr>
          <a:xfrm>
            <a:off x="155368" y="4686726"/>
            <a:ext cx="9122538" cy="218111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endParaRPr dirty="0"/>
          </a:p>
          <a:p>
            <a:pPr lvl="0" algn="l">
              <a:lnSpc>
                <a:spcPct val="116199"/>
              </a:lnSpc>
            </a:pPr>
            <a:r>
              <a:rPr lang="ko-KR" sz="1800" b="1" i="0" u="none" strike="noStrike" dirty="0" err="1">
                <a:solidFill>
                  <a:srgbClr val="000000"/>
                </a:solidFill>
                <a:ea typeface="Pretendard Regular"/>
              </a:rPr>
              <a:t>박우범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대표의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영업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목표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 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 dirty="0">
                <a:solidFill>
                  <a:srgbClr val="000000"/>
                </a:solidFill>
              </a:rPr>
              <a:t>“...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과거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오프라인에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파편화되어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있던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소프트웨어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거래를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빠르고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편리하고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정확하게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거래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할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개발과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거래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히스토리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,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,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평점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신뢰도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자산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쌓는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것에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집중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” 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i="0" u="none" strike="noStrike" dirty="0">
                <a:solidFill>
                  <a:srgbClr val="000000"/>
                </a:solidFill>
              </a:rPr>
              <a:t>“10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여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간의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프로세스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노하우와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자산을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바탕으로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시스템을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자동화하고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재구매율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계약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전환율이</a:t>
            </a:r>
            <a:r>
              <a:rPr lang="en-US" sz="1800" b="1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1" i="0" u="none" strike="noStrike" dirty="0">
                <a:solidFill>
                  <a:srgbClr val="000000"/>
                </a:solidFill>
                <a:ea typeface="Pretendard Regular"/>
              </a:rPr>
              <a:t>상승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하여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전년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대비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3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배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이상의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매출을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달성하고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프로젝트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1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건당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공헌이익률이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약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60%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수익성을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1800" b="0" i="0" u="none" strike="noStrike" dirty="0">
                <a:solidFill>
                  <a:srgbClr val="000000"/>
                </a:solidFill>
                <a:ea typeface="Pretendard Regular"/>
              </a:rPr>
              <a:t>개선</a:t>
            </a:r>
            <a:r>
              <a:rPr lang="en-US" sz="1800" b="0" i="0" u="none" strike="noStrike" dirty="0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F6B432-22D5-6533-9BA6-67465DE1D8CE}"/>
              </a:ext>
            </a:extLst>
          </p:cNvPr>
          <p:cNvSpPr txBox="1"/>
          <p:nvPr/>
        </p:nvSpPr>
        <p:spPr>
          <a:xfrm>
            <a:off x="2374899" y="2473212"/>
            <a:ext cx="7644759" cy="39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a typeface="Pretendard Regular"/>
              </a:rPr>
              <a:t>위시캣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: 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다분야</a:t>
            </a:r>
            <a:r>
              <a:rPr lang="en-US" altLang="ko-KR" sz="180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10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만명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 IT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전문가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풀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확보</a:t>
            </a:r>
            <a:r>
              <a:rPr lang="en-US" altLang="ko-KR" sz="1800" b="0" i="0" u="none" strike="noStrike" dirty="0">
                <a:solidFill>
                  <a:srgbClr val="000000"/>
                </a:solidFill>
                <a:ea typeface="Pretendard Regular"/>
              </a:rPr>
              <a:t>,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국내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최대</a:t>
            </a:r>
            <a:r>
              <a:rPr lang="en-US" altLang="ko-KR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IT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아웃소싱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서비스로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a typeface="Pretendard Regular"/>
              </a:rPr>
              <a:t>자리매김</a:t>
            </a:r>
            <a:r>
              <a:rPr lang="en-US" altLang="ko-KR" sz="1800" b="0" i="0" u="none" strike="noStrike" dirty="0">
                <a:solidFill>
                  <a:srgbClr val="000000"/>
                </a:solidFill>
              </a:rPr>
              <a:t> 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8602579-6C84-695F-23BA-405CAE33C8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777" t="9074" r="17383" b="3183"/>
          <a:stretch/>
        </p:blipFill>
        <p:spPr>
          <a:xfrm>
            <a:off x="173138" y="2099536"/>
            <a:ext cx="1873437" cy="217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4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375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8700" b="0" i="0" u="none" strike="noStrike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92700" y="3759200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목표</a:t>
            </a:r>
            <a:r>
              <a:rPr lang="en-US" sz="3700" b="0" i="0" u="none" strike="noStrike" spc="-300">
                <a:solidFill>
                  <a:srgbClr val="FFFFFF"/>
                </a:solidFill>
              </a:rPr>
              <a:t> </a:t>
            </a:r>
            <a:r>
              <a:rPr lang="ko-KR" sz="3700" b="0" i="0" u="none" strike="noStrike" spc="-300">
                <a:solidFill>
                  <a:srgbClr val="FFFFFF"/>
                </a:solidFill>
                <a:ea typeface="Noto Sans CJK KR Regular"/>
              </a:rPr>
              <a:t>설정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63600" y="25400"/>
            <a:ext cx="2857500" cy="283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2700000">
            <a:off x="-1092200" y="4889500"/>
            <a:ext cx="2286000" cy="232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851900" y="5232400"/>
            <a:ext cx="21717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2857500"/>
            <a:ext cx="8382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5000" y="2654300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목표</a:t>
            </a:r>
            <a:r>
              <a:rPr lang="en-US" sz="3100" b="1" i="0" u="none" strike="noStrike" spc="-200" dirty="0">
                <a:solidFill>
                  <a:srgbClr val="4C4747"/>
                </a:solidFill>
              </a:rPr>
              <a:t> </a:t>
            </a:r>
            <a:r>
              <a:rPr 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설정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35000" y="3263900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프로젝트의</a:t>
            </a:r>
            <a:r>
              <a:rPr lang="en-US" sz="1900" b="0" i="0" u="none" strike="noStrike" spc="-100" dirty="0">
                <a:solidFill>
                  <a:srgbClr val="4C50BB"/>
                </a:solidFill>
              </a:rPr>
              <a:t> </a:t>
            </a:r>
            <a:r>
              <a:rPr 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방향성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698500" y="5295900"/>
            <a:ext cx="2298700" cy="2082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00" y="698500"/>
            <a:ext cx="3086100" cy="3086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25500" y="4013200"/>
            <a:ext cx="9626600" cy="236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i="0" u="none" strike="noStrike" dirty="0">
                <a:solidFill>
                  <a:srgbClr val="000000"/>
                </a:solidFill>
              </a:rPr>
              <a:t> L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사의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목표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: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소비자의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만족도를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높이고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,</a:t>
            </a:r>
            <a:r>
              <a:rPr lang="en-US" sz="2300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altLang="en-US" sz="2300" dirty="0">
                <a:solidFill>
                  <a:srgbClr val="000000"/>
                </a:solidFill>
                <a:ea typeface="Pretendard Regular"/>
              </a:rPr>
              <a:t>전문가의 이탈을 방지하여 최종적으로 거래 </a:t>
            </a:r>
            <a:r>
              <a:rPr lang="ko-KR" altLang="en-US" sz="2300" dirty="0" err="1">
                <a:solidFill>
                  <a:srgbClr val="000000"/>
                </a:solidFill>
                <a:ea typeface="Pretendard Regular"/>
              </a:rPr>
              <a:t>성사율</a:t>
            </a:r>
            <a:r>
              <a:rPr lang="ko-KR" altLang="en-US" sz="2300" dirty="0">
                <a:solidFill>
                  <a:srgbClr val="000000"/>
                </a:solidFill>
                <a:ea typeface="Pretendard Regular"/>
              </a:rPr>
              <a:t> 향상 및 지속 가능한 수익 구조를 구축하고자 함</a:t>
            </a:r>
            <a:endParaRPr lang="ko-KR" sz="2300" b="0" i="0" u="none" strike="noStrike" dirty="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endParaRPr lang="ko-KR" sz="2300" b="0" i="0" u="none" strike="noStrike" dirty="0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기반의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맞춤형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제공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, AI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추천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,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합리적인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수수료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체계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마련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,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효과적인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마케팅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전략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수립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등을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 </a:t>
            </a:r>
            <a:r>
              <a:rPr lang="ko-KR" sz="2300" b="0" i="0" u="none" strike="noStrike" dirty="0">
                <a:solidFill>
                  <a:srgbClr val="000000"/>
                </a:solidFill>
                <a:ea typeface="Pretendard Regular"/>
              </a:rPr>
              <a:t>추진</a:t>
            </a:r>
            <a:r>
              <a:rPr lang="en-US" sz="2300" b="0" i="0" u="none" strike="noStrike" dirty="0">
                <a:solidFill>
                  <a:srgbClr val="000000"/>
                </a:solidFill>
              </a:rPr>
              <a:t> </a:t>
            </a:r>
          </a:p>
          <a:p>
            <a:pPr lvl="0" algn="l">
              <a:lnSpc>
                <a:spcPct val="116199"/>
              </a:lnSpc>
            </a:pPr>
            <a:endParaRPr lang="en-US" sz="2300" b="0" i="0" u="none" strike="noStrike" dirty="0">
              <a:solidFill>
                <a:srgbClr val="000000"/>
              </a:solidFill>
            </a:endParaRPr>
          </a:p>
          <a:p>
            <a:pPr lvl="0" algn="l">
              <a:lnSpc>
                <a:spcPct val="116199"/>
              </a:lnSpc>
            </a:pPr>
            <a:endParaRPr lang="en-US" sz="23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442BEEF-08EB-AF68-AE28-09B626A88079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11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8501494-CA29-6633-0075-5E77A234896E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목표 설정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5">
            <a:extLst>
              <a:ext uri="{FF2B5EF4-FFF2-40B4-BE49-F238E27FC236}">
                <a16:creationId xmlns:a16="http://schemas.microsoft.com/office/drawing/2014/main" id="{D5087C08-6688-EC3D-DD62-FE30C7F1E6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6870700" y="266700"/>
            <a:ext cx="1905000" cy="16891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1997812"/>
            <a:ext cx="8280400" cy="391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394" y="1587926"/>
            <a:ext cx="1793505" cy="471668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21046" y="6183961"/>
            <a:ext cx="66421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1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년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내에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거래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 err="1">
                <a:solidFill>
                  <a:srgbClr val="4C50BB"/>
                </a:solidFill>
                <a:ea typeface="Noto Sans CJK KR Regular"/>
              </a:rPr>
              <a:t>성사율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증가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,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고객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만족도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향상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,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전문가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 err="1">
                <a:solidFill>
                  <a:srgbClr val="4C50BB"/>
                </a:solidFill>
                <a:ea typeface="Noto Sans CJK KR Regular"/>
              </a:rPr>
              <a:t>이탈율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감소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등의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분야에서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다음과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같은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성과를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내고자</a:t>
            </a:r>
            <a:r>
              <a:rPr lang="en-US" sz="1900" b="0" i="0" u="none" strike="noStrike" dirty="0">
                <a:solidFill>
                  <a:srgbClr val="4C50BB"/>
                </a:solidFill>
                <a:latin typeface="Noto Sans CJK KR Regular"/>
              </a:rPr>
              <a:t> </a:t>
            </a:r>
            <a:r>
              <a:rPr lang="ko-KR" sz="1900" b="0" i="0" u="none" strike="noStrike" dirty="0">
                <a:solidFill>
                  <a:srgbClr val="4C50BB"/>
                </a:solidFill>
                <a:ea typeface="Noto Sans CJK KR Regular"/>
              </a:rPr>
              <a:t>함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0C3EC8E-B03A-E1BA-D039-9C56C6D86303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12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1555833-3A71-0C0B-E733-3BA63DA6991B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목표 설정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08B37429-1694-9284-4C91-C34ECB9F9E2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000"/>
          </a:blip>
          <a:stretch>
            <a:fillRect/>
          </a:stretch>
        </p:blipFill>
        <p:spPr>
          <a:xfrm>
            <a:off x="698500" y="5295900"/>
            <a:ext cx="2298700" cy="208280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89EF5126-083B-994D-F5C8-E3BAF2C2F1AF}"/>
              </a:ext>
            </a:extLst>
          </p:cNvPr>
          <p:cNvGrpSpPr/>
          <p:nvPr/>
        </p:nvGrpSpPr>
        <p:grpSpPr>
          <a:xfrm>
            <a:off x="2235920" y="1353955"/>
            <a:ext cx="4174055" cy="558800"/>
            <a:chOff x="4933950" y="628169"/>
            <a:chExt cx="4695825" cy="558800"/>
          </a:xfrm>
        </p:grpSpPr>
        <p:sp>
          <p:nvSpPr>
            <p:cNvPr id="2" name="TextBox 2">
              <a:extLst>
                <a:ext uri="{FF2B5EF4-FFF2-40B4-BE49-F238E27FC236}">
                  <a16:creationId xmlns:a16="http://schemas.microsoft.com/office/drawing/2014/main" id="{50F3BB59-6FB7-23EA-44BB-00E84AA3885F}"/>
                </a:ext>
              </a:extLst>
            </p:cNvPr>
            <p:cNvSpPr txBox="1"/>
            <p:nvPr/>
          </p:nvSpPr>
          <p:spPr>
            <a:xfrm>
              <a:off x="4933950" y="628169"/>
              <a:ext cx="2806700" cy="55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533"/>
                </a:lnSpc>
              </a:pPr>
              <a:r>
                <a:rPr lang="ko-KR" sz="3100" b="1" i="0" u="none" strike="noStrike" spc="-200" dirty="0">
                  <a:solidFill>
                    <a:srgbClr val="4C4747"/>
                  </a:solidFill>
                  <a:ea typeface="Noto Sans CJK KR Regular"/>
                </a:rPr>
                <a:t>목표</a:t>
              </a:r>
              <a:r>
                <a:rPr lang="en-US" sz="3100" b="1" i="0" u="none" strike="noStrike" spc="-200" dirty="0">
                  <a:solidFill>
                    <a:srgbClr val="4C4747"/>
                  </a:solidFill>
                </a:rPr>
                <a:t> </a:t>
              </a:r>
              <a:r>
                <a:rPr lang="ko-KR" sz="3100" b="1" i="0" u="none" strike="noStrike" spc="-200" dirty="0">
                  <a:solidFill>
                    <a:srgbClr val="4C4747"/>
                  </a:solidFill>
                  <a:ea typeface="Noto Sans CJK KR Regular"/>
                </a:rPr>
                <a:t>설정</a:t>
              </a:r>
            </a:p>
          </p:txBody>
        </p:sp>
        <p:sp>
          <p:nvSpPr>
            <p:cNvPr id="16" name="TextBox 3">
              <a:extLst>
                <a:ext uri="{FF2B5EF4-FFF2-40B4-BE49-F238E27FC236}">
                  <a16:creationId xmlns:a16="http://schemas.microsoft.com/office/drawing/2014/main" id="{18E93C94-54EB-0186-12BE-DAF8BA10BF02}"/>
                </a:ext>
              </a:extLst>
            </p:cNvPr>
            <p:cNvSpPr txBox="1"/>
            <p:nvPr/>
          </p:nvSpPr>
          <p:spPr>
            <a:xfrm>
              <a:off x="6784975" y="809144"/>
              <a:ext cx="28448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5287"/>
                </a:lnSpc>
              </a:pPr>
              <a:r>
                <a:rPr lang="ko-KR" altLang="en-US" sz="1900" b="0" i="0" u="none" strike="noStrike" spc="-100" dirty="0">
                  <a:solidFill>
                    <a:srgbClr val="4C50BB"/>
                  </a:solidFill>
                  <a:ea typeface="Noto Sans CJK KR Regular"/>
                </a:rPr>
                <a:t>수치적 목표</a:t>
              </a:r>
              <a:endParaRPr lang="ko-KR" sz="1900" b="0" i="0" u="none" strike="noStrike" spc="-100" dirty="0">
                <a:solidFill>
                  <a:srgbClr val="4C50BB"/>
                </a:solidFill>
                <a:ea typeface="Noto Sans CJK KR Regula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7B749-0620-A55D-84D0-CE46D62D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2B76773-D5ED-1D43-8DAC-E98A407D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88900" y="2933700"/>
            <a:ext cx="838200" cy="114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9A34818-CFC5-5014-9EF4-ABBAB0B0DF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645400" y="50800"/>
            <a:ext cx="1981200" cy="1968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83622CD-7093-946B-A08C-BE4EF96418B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2700000">
            <a:off x="9067800" y="254000"/>
            <a:ext cx="2286000" cy="2324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4206A21-8143-E8AC-E5BD-7655E302D75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8267700" y="4826000"/>
            <a:ext cx="2717800" cy="2692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0A07829-AA2D-5C31-6443-9DB8CA77B2FC}"/>
              </a:ext>
            </a:extLst>
          </p:cNvPr>
          <p:cNvSpPr txBox="1"/>
          <p:nvPr/>
        </p:nvSpPr>
        <p:spPr>
          <a:xfrm>
            <a:off x="10287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en-US" sz="8700" b="0" i="0" u="none" strike="noStrike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9ECA0C1-6C78-46FE-5866-3D8651AB1066}"/>
              </a:ext>
            </a:extLst>
          </p:cNvPr>
          <p:cNvSpPr txBox="1"/>
          <p:nvPr/>
        </p:nvSpPr>
        <p:spPr>
          <a:xfrm>
            <a:off x="1028700" y="3759200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3700" b="0" i="0" u="none" strike="noStrike" spc="-300" dirty="0">
                <a:solidFill>
                  <a:srgbClr val="FFFFFF"/>
                </a:solidFill>
                <a:ea typeface="Noto Sans CJK KR Regular"/>
              </a:rPr>
              <a:t>특성 요인도 및 변수 정의서</a:t>
            </a:r>
            <a:endParaRPr lang="ko-KR" sz="3700" b="0" i="0" u="none" strike="noStrike" spc="-300" dirty="0">
              <a:solidFill>
                <a:srgbClr val="FFFFFF"/>
              </a:solidFill>
              <a:ea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6348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9480E-EF3E-4A1D-67F9-9A7B1F6C5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E2258A5-37E8-9CC7-4D6F-8567F0E0C44B}"/>
              </a:ext>
            </a:extLst>
          </p:cNvPr>
          <p:cNvSpPr txBox="1"/>
          <p:nvPr/>
        </p:nvSpPr>
        <p:spPr>
          <a:xfrm>
            <a:off x="731376" y="2261476"/>
            <a:ext cx="4310524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특성 요인도 및 변수 정의서</a:t>
            </a:r>
            <a:endParaRPr lang="ko-KR" sz="3100" b="1" i="0" u="none" strike="noStrike" spc="-2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2999EC4-EC30-E9E8-C22E-8B72EE783334}"/>
              </a:ext>
            </a:extLst>
          </p:cNvPr>
          <p:cNvSpPr txBox="1"/>
          <p:nvPr/>
        </p:nvSpPr>
        <p:spPr>
          <a:xfrm>
            <a:off x="731376" y="2871076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특성 요인도</a:t>
            </a:r>
            <a:endParaRPr lang="ko-KR" sz="1900" b="0" i="0" u="none" strike="noStrike" spc="-100" dirty="0">
              <a:solidFill>
                <a:srgbClr val="4C50BB"/>
              </a:solidFill>
              <a:ea typeface="Noto Sans CJK KR Regular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F531871-077D-4958-1790-594D1D33BC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6141305" y="4821218"/>
            <a:ext cx="2298700" cy="20828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89B2C33-76C5-AD54-CF44-425595AB85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B4E7E9F8-62B1-1BE3-FAD4-D1277740BF11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</a:rPr>
              <a:t>14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896EC8B-E2EE-A453-327C-55928F1EC585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spc="-30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특성  요인도  및  변수  정의서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027BB18-F6B1-D79B-0C58-7DE3E63EC081}"/>
              </a:ext>
            </a:extLst>
          </p:cNvPr>
          <p:cNvGrpSpPr/>
          <p:nvPr/>
        </p:nvGrpSpPr>
        <p:grpSpPr>
          <a:xfrm>
            <a:off x="622300" y="4122039"/>
            <a:ext cx="9842500" cy="1937429"/>
            <a:chOff x="622300" y="3677088"/>
            <a:chExt cx="9842500" cy="1937429"/>
          </a:xfrm>
        </p:grpSpPr>
        <p:sp>
          <p:nvSpPr>
            <p:cNvPr id="13" name="화살표: 줄무늬가 있는 오른쪽 12">
              <a:extLst>
                <a:ext uri="{FF2B5EF4-FFF2-40B4-BE49-F238E27FC236}">
                  <a16:creationId xmlns:a16="http://schemas.microsoft.com/office/drawing/2014/main" id="{FF3FB1CA-2EEF-9855-4477-B725AB88DADC}"/>
                </a:ext>
              </a:extLst>
            </p:cNvPr>
            <p:cNvSpPr/>
            <p:nvPr/>
          </p:nvSpPr>
          <p:spPr>
            <a:xfrm>
              <a:off x="622300" y="4639375"/>
              <a:ext cx="7010400" cy="342900"/>
            </a:xfrm>
            <a:prstGeom prst="stripedRightArrow">
              <a:avLst>
                <a:gd name="adj1" fmla="val 42111"/>
                <a:gd name="adj2" fmla="val 44084"/>
              </a:avLst>
            </a:prstGeom>
            <a:gradFill>
              <a:gsLst>
                <a:gs pos="29378">
                  <a:srgbClr val="DAE5F1">
                    <a:lumMod val="6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63AC601-DDCD-D852-C804-88CC4533DAF0}"/>
                </a:ext>
              </a:extLst>
            </p:cNvPr>
            <p:cNvSpPr/>
            <p:nvPr/>
          </p:nvSpPr>
          <p:spPr>
            <a:xfrm>
              <a:off x="7893378" y="4007132"/>
              <a:ext cx="2571422" cy="1607385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100" dirty="0"/>
                <a:t>거래성사율</a:t>
              </a:r>
              <a:endParaRPr lang="en-US" altLang="ko-KR" sz="3100" dirty="0"/>
            </a:p>
            <a:p>
              <a:pPr algn="ctr"/>
              <a:r>
                <a:rPr lang="ko-KR" altLang="en-US" sz="3100" dirty="0"/>
                <a:t>향상</a:t>
              </a:r>
            </a:p>
          </p:txBody>
        </p:sp>
        <p:sp>
          <p:nvSpPr>
            <p:cNvPr id="17" name="화살표: 줄무늬가 있는 오른쪽 16">
              <a:extLst>
                <a:ext uri="{FF2B5EF4-FFF2-40B4-BE49-F238E27FC236}">
                  <a16:creationId xmlns:a16="http://schemas.microsoft.com/office/drawing/2014/main" id="{7E18076B-2110-8429-3A83-44843362BAE3}"/>
                </a:ext>
              </a:extLst>
            </p:cNvPr>
            <p:cNvSpPr/>
            <p:nvPr/>
          </p:nvSpPr>
          <p:spPr>
            <a:xfrm rot="2781809">
              <a:off x="1601129" y="4197347"/>
              <a:ext cx="1215565" cy="175049"/>
            </a:xfrm>
            <a:prstGeom prst="stripedRightArrow">
              <a:avLst>
                <a:gd name="adj1" fmla="val 42111"/>
                <a:gd name="adj2" fmla="val 44084"/>
              </a:avLst>
            </a:prstGeom>
            <a:gradFill>
              <a:gsLst>
                <a:gs pos="29378">
                  <a:srgbClr val="DAE5F1">
                    <a:lumMod val="6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화살표: 줄무늬가 있는 오른쪽 17">
              <a:extLst>
                <a:ext uri="{FF2B5EF4-FFF2-40B4-BE49-F238E27FC236}">
                  <a16:creationId xmlns:a16="http://schemas.microsoft.com/office/drawing/2014/main" id="{C53A156F-73CB-FC7B-0A57-0DB962120F7C}"/>
                </a:ext>
              </a:extLst>
            </p:cNvPr>
            <p:cNvSpPr/>
            <p:nvPr/>
          </p:nvSpPr>
          <p:spPr>
            <a:xfrm rot="2781809">
              <a:off x="3653099" y="4197526"/>
              <a:ext cx="1215565" cy="175049"/>
            </a:xfrm>
            <a:prstGeom prst="stripedRightArrow">
              <a:avLst>
                <a:gd name="adj1" fmla="val 42111"/>
                <a:gd name="adj2" fmla="val 44084"/>
              </a:avLst>
            </a:prstGeom>
            <a:gradFill>
              <a:gsLst>
                <a:gs pos="29378">
                  <a:srgbClr val="DAE5F1">
                    <a:lumMod val="6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화살표: 줄무늬가 있는 오른쪽 18">
              <a:extLst>
                <a:ext uri="{FF2B5EF4-FFF2-40B4-BE49-F238E27FC236}">
                  <a16:creationId xmlns:a16="http://schemas.microsoft.com/office/drawing/2014/main" id="{E56D7679-0AC3-DC2F-8F31-D5660E2DAF0F}"/>
                </a:ext>
              </a:extLst>
            </p:cNvPr>
            <p:cNvSpPr/>
            <p:nvPr/>
          </p:nvSpPr>
          <p:spPr>
            <a:xfrm rot="2781809">
              <a:off x="6062154" y="4197346"/>
              <a:ext cx="1215565" cy="175049"/>
            </a:xfrm>
            <a:prstGeom prst="stripedRightArrow">
              <a:avLst>
                <a:gd name="adj1" fmla="val 42111"/>
                <a:gd name="adj2" fmla="val 44084"/>
              </a:avLst>
            </a:prstGeom>
            <a:gradFill>
              <a:gsLst>
                <a:gs pos="29378">
                  <a:srgbClr val="DAE5F1">
                    <a:lumMod val="6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화살표: 줄무늬가 있는 오른쪽 20">
              <a:extLst>
                <a:ext uri="{FF2B5EF4-FFF2-40B4-BE49-F238E27FC236}">
                  <a16:creationId xmlns:a16="http://schemas.microsoft.com/office/drawing/2014/main" id="{EB2A7C9A-BABB-2FA2-23FA-72F752EC8650}"/>
                </a:ext>
              </a:extLst>
            </p:cNvPr>
            <p:cNvSpPr/>
            <p:nvPr/>
          </p:nvSpPr>
          <p:spPr>
            <a:xfrm rot="19318142">
              <a:off x="1193189" y="5252341"/>
              <a:ext cx="1215565" cy="175049"/>
            </a:xfrm>
            <a:prstGeom prst="stripedRightArrow">
              <a:avLst>
                <a:gd name="adj1" fmla="val 42111"/>
                <a:gd name="adj2" fmla="val 44084"/>
              </a:avLst>
            </a:prstGeom>
            <a:gradFill>
              <a:gsLst>
                <a:gs pos="29378">
                  <a:srgbClr val="DAE5F1">
                    <a:lumMod val="6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화살표: 줄무늬가 있는 오른쪽 21">
              <a:extLst>
                <a:ext uri="{FF2B5EF4-FFF2-40B4-BE49-F238E27FC236}">
                  <a16:creationId xmlns:a16="http://schemas.microsoft.com/office/drawing/2014/main" id="{CE22ED7E-3469-2215-9D24-AD5D5A408210}"/>
                </a:ext>
              </a:extLst>
            </p:cNvPr>
            <p:cNvSpPr/>
            <p:nvPr/>
          </p:nvSpPr>
          <p:spPr>
            <a:xfrm rot="19318142">
              <a:off x="3235037" y="5249324"/>
              <a:ext cx="1215565" cy="175049"/>
            </a:xfrm>
            <a:prstGeom prst="stripedRightArrow">
              <a:avLst>
                <a:gd name="adj1" fmla="val 42111"/>
                <a:gd name="adj2" fmla="val 44084"/>
              </a:avLst>
            </a:prstGeom>
            <a:gradFill>
              <a:gsLst>
                <a:gs pos="29378">
                  <a:srgbClr val="DAE5F1">
                    <a:lumMod val="6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TextBox 3">
            <a:extLst>
              <a:ext uri="{FF2B5EF4-FFF2-40B4-BE49-F238E27FC236}">
                <a16:creationId xmlns:a16="http://schemas.microsoft.com/office/drawing/2014/main" id="{80D9ABA1-CAE6-1EB2-6EAC-017ECB6E4CDE}"/>
              </a:ext>
            </a:extLst>
          </p:cNvPr>
          <p:cNvSpPr txBox="1"/>
          <p:nvPr/>
        </p:nvSpPr>
        <p:spPr>
          <a:xfrm>
            <a:off x="0" y="6236942"/>
            <a:ext cx="2191694" cy="4967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287"/>
              </a:lnSpc>
            </a:pPr>
            <a:r>
              <a:rPr lang="ko-KR" altLang="en-US" sz="1900" spc="-100" dirty="0">
                <a:ea typeface="Noto Sans CJK KR Regular"/>
              </a:rPr>
              <a:t>유입경로</a:t>
            </a:r>
            <a:endParaRPr lang="en-US" altLang="ko-KR" sz="1900" spc="-100" dirty="0">
              <a:ea typeface="Noto Sans CJK KR Regular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917195C1-DFAC-E280-9E35-C0298C9D3FED}"/>
              </a:ext>
            </a:extLst>
          </p:cNvPr>
          <p:cNvSpPr txBox="1"/>
          <p:nvPr/>
        </p:nvSpPr>
        <p:spPr>
          <a:xfrm>
            <a:off x="2352039" y="3715570"/>
            <a:ext cx="3502591" cy="4967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287"/>
              </a:lnSpc>
            </a:pPr>
            <a:r>
              <a:rPr lang="ko-KR" altLang="en-US" sz="1900" b="0" i="0" u="none" strike="noStrike" spc="-100" dirty="0">
                <a:ea typeface="Noto Sans CJK KR Regular"/>
              </a:rPr>
              <a:t>대분류별</a:t>
            </a:r>
            <a:r>
              <a:rPr lang="en-US" altLang="ko-KR" sz="1900" b="0" i="0" u="none" strike="noStrike" spc="-100" dirty="0">
                <a:ea typeface="Noto Sans CJK KR Regular"/>
              </a:rPr>
              <a:t> </a:t>
            </a:r>
            <a:r>
              <a:rPr lang="ko-KR" altLang="en-US" sz="1900" b="0" i="0" u="none" strike="noStrike" spc="-100" dirty="0">
                <a:ea typeface="Noto Sans CJK KR Regular"/>
              </a:rPr>
              <a:t>전문가 분포</a:t>
            </a:r>
            <a:endParaRPr lang="en-US" altLang="ko-KR" sz="1900" b="0" i="0" u="none" strike="noStrike" spc="-100" dirty="0">
              <a:ea typeface="Noto Sans CJK KR Regular"/>
            </a:endParaRPr>
          </a:p>
          <a:p>
            <a:pPr lvl="0" algn="ctr">
              <a:lnSpc>
                <a:spcPct val="115287"/>
              </a:lnSpc>
            </a:pPr>
            <a:r>
              <a:rPr lang="en-US" altLang="ko-KR" sz="1900" spc="-100" dirty="0">
                <a:ea typeface="Noto Sans CJK KR Regular"/>
              </a:rPr>
              <a:t>(</a:t>
            </a:r>
            <a:r>
              <a:rPr lang="ko-KR" altLang="en-US" sz="1900" spc="-100" dirty="0">
                <a:ea typeface="Noto Sans CJK KR Regular"/>
              </a:rPr>
              <a:t>서비스 분야</a:t>
            </a:r>
            <a:r>
              <a:rPr lang="en-US" altLang="ko-KR" sz="1900" spc="-100" dirty="0">
                <a:ea typeface="Noto Sans CJK KR Regular"/>
              </a:rPr>
              <a:t>)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A613329B-DF39-B0BD-72AE-2BEEFFA1A93D}"/>
              </a:ext>
            </a:extLst>
          </p:cNvPr>
          <p:cNvSpPr txBox="1"/>
          <p:nvPr/>
        </p:nvSpPr>
        <p:spPr>
          <a:xfrm>
            <a:off x="452808" y="3800062"/>
            <a:ext cx="2546679" cy="4967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287"/>
              </a:lnSpc>
            </a:pPr>
            <a:r>
              <a:rPr lang="ko-KR" altLang="en-US" sz="1900" spc="-100" dirty="0">
                <a:ea typeface="Noto Sans CJK KR Regular"/>
              </a:rPr>
              <a:t>판매금액</a:t>
            </a:r>
            <a:r>
              <a:rPr lang="en-US" altLang="ko-KR" sz="1900" spc="-100" dirty="0">
                <a:ea typeface="Noto Sans CJK KR Regular"/>
              </a:rPr>
              <a:t>, </a:t>
            </a:r>
            <a:r>
              <a:rPr lang="ko-KR" altLang="en-US" sz="1900" spc="-100" dirty="0">
                <a:ea typeface="Noto Sans CJK KR Regular"/>
              </a:rPr>
              <a:t>수수료율</a:t>
            </a:r>
            <a:endParaRPr lang="en-US" altLang="ko-KR" sz="1900" spc="-100" dirty="0">
              <a:ea typeface="Noto Sans CJK KR Regular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942A5467-DDE2-1D37-7510-D8EFD6FCC4EA}"/>
              </a:ext>
            </a:extLst>
          </p:cNvPr>
          <p:cNvSpPr txBox="1"/>
          <p:nvPr/>
        </p:nvSpPr>
        <p:spPr>
          <a:xfrm>
            <a:off x="4460136" y="3740469"/>
            <a:ext cx="4419600" cy="4967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287"/>
              </a:lnSpc>
            </a:pPr>
            <a:r>
              <a:rPr lang="ko-KR" altLang="en-US" sz="1900" spc="-100" dirty="0">
                <a:ea typeface="Noto Sans CJK KR Regular"/>
              </a:rPr>
              <a:t>서비스 가입여부</a:t>
            </a:r>
            <a:endParaRPr lang="en-US" altLang="ko-KR" sz="1900" spc="-100" dirty="0">
              <a:ea typeface="Noto Sans CJK KR Regular"/>
            </a:endParaRPr>
          </a:p>
          <a:p>
            <a:pPr lvl="0" algn="ctr">
              <a:lnSpc>
                <a:spcPct val="115287"/>
              </a:lnSpc>
            </a:pPr>
            <a:r>
              <a:rPr lang="en-US" altLang="ko-KR" sz="1900" spc="-100" dirty="0">
                <a:ea typeface="Noto Sans CJK KR Regular"/>
              </a:rPr>
              <a:t>(</a:t>
            </a:r>
            <a:r>
              <a:rPr lang="ko-KR" altLang="en-US" sz="1900" spc="-100" dirty="0">
                <a:ea typeface="Noto Sans CJK KR Regular"/>
              </a:rPr>
              <a:t>프리미엄 서비스 </a:t>
            </a:r>
            <a:r>
              <a:rPr lang="en-US" altLang="ko-KR" sz="1900" spc="-100" dirty="0">
                <a:ea typeface="Noto Sans CJK KR Regular"/>
              </a:rPr>
              <a:t>/ </a:t>
            </a:r>
            <a:r>
              <a:rPr lang="ko-KR" altLang="en-US" sz="1900" spc="-100" dirty="0">
                <a:ea typeface="Noto Sans CJK KR Regular"/>
              </a:rPr>
              <a:t>신속 알람 서비스</a:t>
            </a:r>
            <a:r>
              <a:rPr lang="en-US" altLang="ko-KR" sz="1900" spc="-100" dirty="0">
                <a:ea typeface="Noto Sans CJK KR Regular"/>
              </a:rPr>
              <a:t>)</a:t>
            </a: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38B17489-1582-C708-6FB3-AB6857B63BD6}"/>
              </a:ext>
            </a:extLst>
          </p:cNvPr>
          <p:cNvSpPr txBox="1"/>
          <p:nvPr/>
        </p:nvSpPr>
        <p:spPr>
          <a:xfrm>
            <a:off x="2221824" y="6236942"/>
            <a:ext cx="1938281" cy="4967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287"/>
              </a:lnSpc>
            </a:pPr>
            <a:r>
              <a:rPr lang="ko-KR" altLang="en-US" sz="1900" spc="-100" dirty="0">
                <a:ea typeface="Noto Sans CJK KR Regular"/>
              </a:rPr>
              <a:t>대분류별 수요</a:t>
            </a:r>
            <a:r>
              <a:rPr lang="en-US" altLang="ko-KR" sz="1900" spc="-100" dirty="0">
                <a:ea typeface="Noto Sans CJK KR Regular"/>
              </a:rPr>
              <a:t>/</a:t>
            </a:r>
            <a:r>
              <a:rPr lang="ko-KR" altLang="en-US" sz="1900" spc="-100" dirty="0">
                <a:ea typeface="Noto Sans CJK KR Regular"/>
              </a:rPr>
              <a:t>공급</a:t>
            </a:r>
            <a:endParaRPr lang="en-US" altLang="ko-KR" sz="1900" spc="-100" dirty="0">
              <a:ea typeface="Noto Sans CJK KR Regular"/>
            </a:endParaRPr>
          </a:p>
        </p:txBody>
      </p:sp>
      <p:sp>
        <p:nvSpPr>
          <p:cNvPr id="32" name="화살표: 줄무늬가 있는 오른쪽 31">
            <a:extLst>
              <a:ext uri="{FF2B5EF4-FFF2-40B4-BE49-F238E27FC236}">
                <a16:creationId xmlns:a16="http://schemas.microsoft.com/office/drawing/2014/main" id="{DB71768B-885E-A520-E7D3-87A89353548F}"/>
              </a:ext>
            </a:extLst>
          </p:cNvPr>
          <p:cNvSpPr/>
          <p:nvPr/>
        </p:nvSpPr>
        <p:spPr>
          <a:xfrm rot="19318142">
            <a:off x="5271577" y="5720035"/>
            <a:ext cx="1215565" cy="175049"/>
          </a:xfrm>
          <a:prstGeom prst="stripedRightArrow">
            <a:avLst>
              <a:gd name="adj1" fmla="val 42111"/>
              <a:gd name="adj2" fmla="val 44084"/>
            </a:avLst>
          </a:prstGeom>
          <a:gradFill>
            <a:gsLst>
              <a:gs pos="29378">
                <a:srgbClr val="DAE5F1">
                  <a:lumMod val="6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8B8420E4-8F5A-B736-1C33-333994AC62C6}"/>
              </a:ext>
            </a:extLst>
          </p:cNvPr>
          <p:cNvSpPr txBox="1"/>
          <p:nvPr/>
        </p:nvSpPr>
        <p:spPr>
          <a:xfrm>
            <a:off x="4427329" y="6225188"/>
            <a:ext cx="1938281" cy="4967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5287"/>
              </a:lnSpc>
            </a:pPr>
            <a:r>
              <a:rPr lang="ko-KR" altLang="en-US" sz="1900" spc="-100" dirty="0">
                <a:ea typeface="Noto Sans CJK KR Regular"/>
              </a:rPr>
              <a:t>서비스 평점</a:t>
            </a:r>
            <a:endParaRPr lang="en-US" altLang="ko-KR" sz="1900" spc="-100" dirty="0">
              <a:ea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56413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0853-9276-9C10-8034-301DC2122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468C5952-7389-C300-116D-D2E57501AB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1079180" y="5304115"/>
            <a:ext cx="2298700" cy="20828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E63C195-76BE-AB2A-639E-8FCFE0B5F4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6168B43-40A5-FE01-6BEB-42E833F11555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</a:rPr>
              <a:t>15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A00DF17-18C9-7663-E2A2-C5066BE52E27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특성  요인도  및  변수  정의서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17CCB6B7-23B3-904A-59B9-C261FB13719A}"/>
              </a:ext>
            </a:extLst>
          </p:cNvPr>
          <p:cNvSpPr txBox="1"/>
          <p:nvPr/>
        </p:nvSpPr>
        <p:spPr>
          <a:xfrm>
            <a:off x="731376" y="2261476"/>
            <a:ext cx="4310524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특성 요인도 및 변수 정의서</a:t>
            </a:r>
            <a:endParaRPr lang="ko-KR" sz="3100" b="1" i="0" u="none" strike="noStrike" spc="-2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36CBCA36-ABDD-DAAE-A715-7B0C7B27B67C}"/>
              </a:ext>
            </a:extLst>
          </p:cNvPr>
          <p:cNvSpPr txBox="1"/>
          <p:nvPr/>
        </p:nvSpPr>
        <p:spPr>
          <a:xfrm>
            <a:off x="731376" y="2871076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변수 정의서</a:t>
            </a:r>
            <a:endParaRPr lang="ko-KR" sz="1900" b="0" i="0" u="none" strike="noStrike" spc="-100" dirty="0">
              <a:solidFill>
                <a:srgbClr val="4C50BB"/>
              </a:solidFill>
              <a:ea typeface="Noto Sans CJK KR Regular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857E92FE-28E0-2525-5205-FAD8DAF42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949898"/>
              </p:ext>
            </p:extLst>
          </p:nvPr>
        </p:nvGraphicFramePr>
        <p:xfrm>
          <a:off x="340006" y="3531187"/>
          <a:ext cx="101346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860">
                  <a:extLst>
                    <a:ext uri="{9D8B030D-6E8A-4147-A177-3AD203B41FA5}">
                      <a16:colId xmlns:a16="http://schemas.microsoft.com/office/drawing/2014/main" val="2129266062"/>
                    </a:ext>
                  </a:extLst>
                </a:gridCol>
                <a:gridCol w="4047707">
                  <a:extLst>
                    <a:ext uri="{9D8B030D-6E8A-4147-A177-3AD203B41FA5}">
                      <a16:colId xmlns:a16="http://schemas.microsoft.com/office/drawing/2014/main" val="49846143"/>
                    </a:ext>
                  </a:extLst>
                </a:gridCol>
                <a:gridCol w="4155033">
                  <a:extLst>
                    <a:ext uri="{9D8B030D-6E8A-4147-A177-3AD203B41FA5}">
                      <a16:colId xmlns:a16="http://schemas.microsoft.com/office/drawing/2014/main" val="1437057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r>
                        <a:rPr lang="ko-KR" altLang="en-US" dirty="0"/>
                        <a:t>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83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판매자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판매금액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서비스가격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평점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이용자수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수수료율 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15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Service 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판매자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판매수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66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Expert 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프리미엄 서비스 가입여부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algn="l" latinLnBrk="1"/>
                      <a:r>
                        <a:rPr lang="ko-KR" altLang="en-US" dirty="0"/>
                        <a:t>신속 알람 서비스 사용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판매 서비스 수 또는 총 판매 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46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Customer 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유입경로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거주지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연령대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algn="l" latinLnBrk="1"/>
                      <a:r>
                        <a:rPr lang="ko-KR" altLang="en-US" dirty="0"/>
                        <a:t>성별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총수정요청수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서비스총구매수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총구매금액 또는 </a:t>
                      </a:r>
                      <a:r>
                        <a:rPr lang="ko-KR" altLang="en-US" dirty="0" err="1"/>
                        <a:t>고객이탈률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859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759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9A0D3-2C30-7DB3-C638-50E86DF9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4F76538-3967-84E9-D68E-6EEE03C0254F}"/>
              </a:ext>
            </a:extLst>
          </p:cNvPr>
          <p:cNvSpPr txBox="1"/>
          <p:nvPr/>
        </p:nvSpPr>
        <p:spPr>
          <a:xfrm>
            <a:off x="79375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8700" b="0" i="0" u="none" strike="noStrike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CD6A0F-1135-2B65-EA1D-46E0C7821560}"/>
              </a:ext>
            </a:extLst>
          </p:cNvPr>
          <p:cNvSpPr txBox="1"/>
          <p:nvPr/>
        </p:nvSpPr>
        <p:spPr>
          <a:xfrm>
            <a:off x="4203700" y="3759200"/>
            <a:ext cx="5511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en-US" altLang="ko-KR" sz="3700" spc="-300" dirty="0">
                <a:solidFill>
                  <a:srgbClr val="FFFFFF"/>
                </a:solidFill>
                <a:ea typeface="Noto Sans CJK KR Regular"/>
              </a:rPr>
              <a:t>ITO </a:t>
            </a:r>
            <a:r>
              <a:rPr lang="ko-KR" altLang="en-US" sz="3700" spc="-300" dirty="0">
                <a:solidFill>
                  <a:srgbClr val="FFFFFF"/>
                </a:solidFill>
                <a:ea typeface="Noto Sans CJK KR Regular"/>
              </a:rPr>
              <a:t>데이터 분석 계획 수립</a:t>
            </a:r>
            <a:endParaRPr lang="ko-KR" sz="3700" b="0" i="0" u="none" strike="noStrike" spc="-300" dirty="0">
              <a:solidFill>
                <a:srgbClr val="FFFFFF"/>
              </a:solidFill>
              <a:ea typeface="Noto Sans CJK KR Regular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186F336-C2E9-068F-D0EA-53A57E225F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63600" y="25400"/>
            <a:ext cx="2857500" cy="283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F47DA4F-72A0-AC57-F55F-4948371A71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2700000">
            <a:off x="-1092200" y="4889500"/>
            <a:ext cx="2286000" cy="2324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6DBE3AC-4FB3-2A8E-008B-56E1454C238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851900" y="5232400"/>
            <a:ext cx="2171700" cy="21463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FB2DBD30-620D-F364-4BD4-E789DD209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2857500"/>
            <a:ext cx="8382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23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2B3E-5DE9-B1AB-2874-99A4EDB4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E9F7942-BD62-9E24-D699-4BC260152393}"/>
              </a:ext>
            </a:extLst>
          </p:cNvPr>
          <p:cNvSpPr txBox="1"/>
          <p:nvPr/>
        </p:nvSpPr>
        <p:spPr>
          <a:xfrm>
            <a:off x="3943349" y="761211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en-US" sz="3100" b="1" spc="-200" dirty="0">
                <a:solidFill>
                  <a:srgbClr val="4C4747"/>
                </a:solidFill>
                <a:ea typeface="Noto Sans CJK KR Regular"/>
              </a:rPr>
              <a:t>ITO </a:t>
            </a: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분석계획서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FE78319-FAE8-E82B-5917-105A1E31C8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800100" y="4559300"/>
            <a:ext cx="3187700" cy="3162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198F396-8212-D5BD-E19D-8F17E69BCA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grpSp>
        <p:nvGrpSpPr>
          <p:cNvPr id="7" name="Group 7">
            <a:extLst>
              <a:ext uri="{FF2B5EF4-FFF2-40B4-BE49-F238E27FC236}">
                <a16:creationId xmlns:a16="http://schemas.microsoft.com/office/drawing/2014/main" id="{A96926CA-3151-F115-84BD-16C13396F168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6">
            <a:extLst>
              <a:ext uri="{FF2B5EF4-FFF2-40B4-BE49-F238E27FC236}">
                <a16:creationId xmlns:a16="http://schemas.microsoft.com/office/drawing/2014/main" id="{B1756ED4-6F1E-E58C-4AA3-6FCDBDB95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2" y="1668738"/>
            <a:ext cx="8846595" cy="570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63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4A8C-C4BD-3036-1CAC-2BAAB0FD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FDDBA69-4464-4E21-A6BE-DF91D08713A4}"/>
              </a:ext>
            </a:extLst>
          </p:cNvPr>
          <p:cNvSpPr txBox="1"/>
          <p:nvPr/>
        </p:nvSpPr>
        <p:spPr>
          <a:xfrm>
            <a:off x="3943349" y="761211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en-US" sz="3100" b="1" spc="-200" dirty="0">
                <a:solidFill>
                  <a:srgbClr val="4C4747"/>
                </a:solidFill>
                <a:ea typeface="Noto Sans CJK KR Regular"/>
              </a:rPr>
              <a:t>ITO </a:t>
            </a: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분석계획서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5AD7452-E41C-DDAD-6CA1-790E614659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800100" y="4559300"/>
            <a:ext cx="3187700" cy="31623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E5F5B9D-F633-17C2-D9C6-7808DCA6D2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grpSp>
        <p:nvGrpSpPr>
          <p:cNvPr id="7" name="Group 7">
            <a:extLst>
              <a:ext uri="{FF2B5EF4-FFF2-40B4-BE49-F238E27FC236}">
                <a16:creationId xmlns:a16="http://schemas.microsoft.com/office/drawing/2014/main" id="{C202FDF0-2EE6-F8AD-1FB6-7761277871C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6">
            <a:extLst>
              <a:ext uri="{FF2B5EF4-FFF2-40B4-BE49-F238E27FC236}">
                <a16:creationId xmlns:a16="http://schemas.microsoft.com/office/drawing/2014/main" id="{AF1F95B5-387C-2CE8-6474-B7FF484CA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2779455"/>
            <a:ext cx="9499600" cy="1769925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3310215-DE72-23E4-FD70-895FFC8F7071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66A05-B4F9-FEAF-7915-88FBBCA105A8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en-US" altLang="ko-KR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I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T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O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   데이터  분석  계획  수립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6105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3184A-F685-22F5-58C7-F1CB8C65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EDC39A3-1D22-0761-D7BB-E855E9D8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88900" y="2933700"/>
            <a:ext cx="838200" cy="114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5D762A2-6891-9033-053F-03448C98CD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645400" y="50800"/>
            <a:ext cx="1981200" cy="1968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C61E7B8-655E-A2D0-BED5-21F03670BBE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2700000">
            <a:off x="9067800" y="254000"/>
            <a:ext cx="2286000" cy="2324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82F9391-3209-86D0-EDEC-39CE8CD1C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8267700" y="4826000"/>
            <a:ext cx="2717800" cy="2692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1AB30C9-7275-21FA-C609-D7841FB067BA}"/>
              </a:ext>
            </a:extLst>
          </p:cNvPr>
          <p:cNvSpPr txBox="1"/>
          <p:nvPr/>
        </p:nvSpPr>
        <p:spPr>
          <a:xfrm>
            <a:off x="10287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en-US" sz="8700" b="0" i="0" u="none" strike="noStrike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C76FF4F-A447-90CD-BE16-CCDDABEBF595}"/>
              </a:ext>
            </a:extLst>
          </p:cNvPr>
          <p:cNvSpPr txBox="1"/>
          <p:nvPr/>
        </p:nvSpPr>
        <p:spPr>
          <a:xfrm>
            <a:off x="1028700" y="3759200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3700" spc="-300" dirty="0">
                <a:solidFill>
                  <a:srgbClr val="FFFFFF"/>
                </a:solidFill>
                <a:ea typeface="Noto Sans CJK KR Regular"/>
              </a:rPr>
              <a:t>분석 결과 및 인사이트 도출</a:t>
            </a:r>
            <a:endParaRPr lang="ko-KR" sz="3700" b="0" i="0" u="none" strike="noStrike" spc="-300" dirty="0">
              <a:solidFill>
                <a:srgbClr val="FFFFFF"/>
              </a:solidFill>
              <a:ea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61229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84C9C-2165-4A47-AA6B-525D0214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96339D4-B276-A950-CCE4-6E701699F0D9}"/>
              </a:ext>
            </a:extLst>
          </p:cNvPr>
          <p:cNvSpPr txBox="1"/>
          <p:nvPr/>
        </p:nvSpPr>
        <p:spPr>
          <a:xfrm>
            <a:off x="2448301" y="750834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분석 결과 및</a:t>
            </a:r>
            <a:endParaRPr lang="en-US" altLang="ko-KR" sz="3100" b="1" i="0" u="none" strike="noStrike" spc="-200" dirty="0">
              <a:solidFill>
                <a:srgbClr val="4C4747"/>
              </a:solidFill>
              <a:ea typeface="Noto Sans CJK KR Regular"/>
            </a:endParaRPr>
          </a:p>
          <a:p>
            <a:pPr lvl="0" algn="l">
              <a:lnSpc>
                <a:spcPct val="95533"/>
              </a:lnSpc>
            </a:pP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인사이트 도출</a:t>
            </a:r>
            <a:r>
              <a:rPr lang="ko-KR" altLang="en-US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en-US" alt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1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D17E55-2743-2E10-8DC9-FD311BC1D735}"/>
              </a:ext>
            </a:extLst>
          </p:cNvPr>
          <p:cNvSpPr txBox="1"/>
          <p:nvPr/>
        </p:nvSpPr>
        <p:spPr>
          <a:xfrm>
            <a:off x="5231716" y="1127009"/>
            <a:ext cx="3542856" cy="37325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전문가의 서비스 가입 여부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A37F7C5-A63D-7EC3-7ED2-A4A165D854E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F64084A-E6C9-D165-8913-FF82854D7F81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7BAA398-F3B2-6F7B-C64B-338264FDAEE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D0366763-F3A0-40ED-9012-82FED30520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3637866" y="3222653"/>
            <a:ext cx="3187700" cy="3162300"/>
          </a:xfrm>
          <a:prstGeom prst="rect">
            <a:avLst/>
          </a:prstGeom>
        </p:spPr>
      </p:pic>
      <p:sp>
        <p:nvSpPr>
          <p:cNvPr id="31" name="TextBox 7">
            <a:extLst>
              <a:ext uri="{FF2B5EF4-FFF2-40B4-BE49-F238E27FC236}">
                <a16:creationId xmlns:a16="http://schemas.microsoft.com/office/drawing/2014/main" id="{6008DD1B-8F2D-39A1-DD3F-B962C61BE545}"/>
              </a:ext>
            </a:extLst>
          </p:cNvPr>
          <p:cNvSpPr txBox="1"/>
          <p:nvPr/>
        </p:nvSpPr>
        <p:spPr>
          <a:xfrm>
            <a:off x="5232977" y="2190094"/>
            <a:ext cx="5486400" cy="9971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500" b="1" dirty="0">
                <a:solidFill>
                  <a:srgbClr val="000000"/>
                </a:solidFill>
              </a:rPr>
              <a:t>프리미엄 서비스에 가입한 전문가의 경우</a:t>
            </a:r>
            <a:r>
              <a:rPr lang="en-US" altLang="ko-KR" sz="1500" b="1" dirty="0">
                <a:solidFill>
                  <a:srgbClr val="000000"/>
                </a:solidFill>
              </a:rPr>
              <a:t>,</a:t>
            </a: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ko-KR" altLang="en-US" sz="1500" b="1" dirty="0">
                <a:solidFill>
                  <a:srgbClr val="000000"/>
                </a:solidFill>
              </a:rPr>
              <a:t>       미가입자에 비해</a:t>
            </a:r>
            <a:endParaRPr lang="en-US" altLang="ko-KR" sz="1500" b="1" dirty="0">
              <a:solidFill>
                <a:srgbClr val="000000"/>
              </a:solidFill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1500" b="1" dirty="0">
                <a:solidFill>
                  <a:srgbClr val="000000"/>
                </a:solidFill>
              </a:rPr>
              <a:t>       </a:t>
            </a:r>
            <a:r>
              <a:rPr lang="ko-KR" altLang="en-US" sz="1500" b="1" dirty="0">
                <a:solidFill>
                  <a:srgbClr val="000000"/>
                </a:solidFill>
              </a:rPr>
              <a:t>판매 서비스 수가 낮고 미가입자보다 평균판매금액이 높음</a:t>
            </a:r>
            <a:endParaRPr lang="en-US" sz="1500" b="1" i="0" u="none" strike="noStrike" dirty="0">
              <a:solidFill>
                <a:srgbClr val="000000"/>
              </a:solidFill>
            </a:endParaRPr>
          </a:p>
        </p:txBody>
      </p:sp>
      <p:pic>
        <p:nvPicPr>
          <p:cNvPr id="39" name="Picture 5">
            <a:extLst>
              <a:ext uri="{FF2B5EF4-FFF2-40B4-BE49-F238E27FC236}">
                <a16:creationId xmlns:a16="http://schemas.microsoft.com/office/drawing/2014/main" id="{A2312FB4-E71D-B6E5-29C0-8F42B3E5748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16" name="TextBox 11">
            <a:extLst>
              <a:ext uri="{FF2B5EF4-FFF2-40B4-BE49-F238E27FC236}">
                <a16:creationId xmlns:a16="http://schemas.microsoft.com/office/drawing/2014/main" id="{23F42CB0-5E48-B70D-10AF-79607097A584}"/>
              </a:ext>
            </a:extLst>
          </p:cNvPr>
          <p:cNvSpPr txBox="1"/>
          <p:nvPr/>
        </p:nvSpPr>
        <p:spPr>
          <a:xfrm>
            <a:off x="1384300" y="244369"/>
            <a:ext cx="9186779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altLang="ko-KR" sz="1500" dirty="0">
                <a:ea typeface="Noto Sans CJK KR Regular"/>
              </a:rPr>
              <a:t>*</a:t>
            </a:r>
            <a:r>
              <a:rPr lang="ko-KR" altLang="en-US" sz="1500" dirty="0">
                <a:ea typeface="Noto Sans CJK KR Regular"/>
              </a:rPr>
              <a:t>프리미엄</a:t>
            </a:r>
            <a:r>
              <a:rPr lang="en-US" altLang="ko-KR" sz="1500" dirty="0">
                <a:ea typeface="Noto Sans CJK KR Regular"/>
              </a:rPr>
              <a:t> </a:t>
            </a:r>
            <a:r>
              <a:rPr lang="ko-KR" altLang="en-US" sz="1500" dirty="0">
                <a:ea typeface="Noto Sans CJK KR Regular"/>
              </a:rPr>
              <a:t>서비스 가입여부 </a:t>
            </a:r>
            <a:r>
              <a:rPr lang="en-US" altLang="ko-KR" sz="1500" dirty="0">
                <a:ea typeface="Noto Sans CJK KR Regular"/>
              </a:rPr>
              <a:t>:</a:t>
            </a:r>
            <a:r>
              <a:rPr lang="ko-KR" altLang="en-US" sz="1500" dirty="0">
                <a:ea typeface="Noto Sans CJK KR Regular"/>
              </a:rPr>
              <a:t> 미가입자 </a:t>
            </a:r>
            <a:r>
              <a:rPr lang="en-US" altLang="ko-KR" sz="1500" dirty="0">
                <a:ea typeface="Noto Sans CJK KR Regular"/>
              </a:rPr>
              <a:t>7.2</a:t>
            </a:r>
            <a:r>
              <a:rPr lang="ko-KR" altLang="en-US" sz="1500" dirty="0">
                <a:ea typeface="Noto Sans CJK KR Regular"/>
              </a:rPr>
              <a:t>배 </a:t>
            </a:r>
            <a:r>
              <a:rPr lang="en-US" altLang="ko-KR" sz="1500" dirty="0">
                <a:ea typeface="Noto Sans CJK KR Regular"/>
              </a:rPr>
              <a:t>&gt;&gt; </a:t>
            </a:r>
            <a:r>
              <a:rPr lang="ko-KR" altLang="en-US" sz="1500" dirty="0">
                <a:ea typeface="Noto Sans CJK KR Regular"/>
              </a:rPr>
              <a:t>가입자</a:t>
            </a:r>
            <a:endParaRPr lang="en-US" altLang="ko-KR" sz="1500" dirty="0">
              <a:ea typeface="Noto Sans CJK KR Regular"/>
            </a:endParaRPr>
          </a:p>
          <a:p>
            <a:pPr lvl="0" algn="r">
              <a:lnSpc>
                <a:spcPct val="99600"/>
              </a:lnSpc>
            </a:pPr>
            <a:r>
              <a:rPr lang="en-US" altLang="ko-KR" sz="1500" dirty="0">
                <a:ea typeface="Noto Sans CJK KR Regular"/>
              </a:rPr>
              <a:t>*</a:t>
            </a:r>
            <a:r>
              <a:rPr lang="ko-KR" altLang="en-US" sz="1500" dirty="0">
                <a:ea typeface="Noto Sans CJK KR Regular"/>
              </a:rPr>
              <a:t>신속 알람 서비스 사용여부 </a:t>
            </a:r>
            <a:r>
              <a:rPr lang="en-US" altLang="ko-KR" sz="1500" dirty="0">
                <a:ea typeface="Noto Sans CJK KR Regular"/>
              </a:rPr>
              <a:t>: </a:t>
            </a:r>
            <a:r>
              <a:rPr lang="ko-KR" altLang="en-US" sz="1500" dirty="0">
                <a:ea typeface="Noto Sans CJK KR Regular"/>
              </a:rPr>
              <a:t>미사용자 </a:t>
            </a:r>
            <a:r>
              <a:rPr lang="en-US" altLang="ko-KR" sz="1500" dirty="0">
                <a:ea typeface="Noto Sans CJK KR Regular"/>
              </a:rPr>
              <a:t>4.1</a:t>
            </a:r>
            <a:r>
              <a:rPr lang="ko-KR" altLang="en-US" sz="1500" dirty="0">
                <a:ea typeface="Noto Sans CJK KR Regular"/>
              </a:rPr>
              <a:t>배 </a:t>
            </a:r>
            <a:r>
              <a:rPr lang="en-US" altLang="ko-KR" sz="1500" dirty="0">
                <a:ea typeface="Noto Sans CJK KR Regular"/>
              </a:rPr>
              <a:t>&gt;&gt; </a:t>
            </a:r>
            <a:r>
              <a:rPr lang="ko-KR" altLang="en-US" sz="1500" dirty="0">
                <a:ea typeface="Noto Sans CJK KR Regular"/>
              </a:rPr>
              <a:t>사용자</a:t>
            </a:r>
            <a:endParaRPr lang="en-US" altLang="ko-KR" sz="1500" dirty="0">
              <a:ea typeface="Noto Sans CJK KR Regular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8887425-9A10-A3A5-B046-38E3272D3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73" y="2088614"/>
            <a:ext cx="4981005" cy="2764483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C9C269C9-E97B-76DC-094B-ADC4F1177258}"/>
              </a:ext>
            </a:extLst>
          </p:cNvPr>
          <p:cNvSpPr txBox="1"/>
          <p:nvPr/>
        </p:nvSpPr>
        <p:spPr>
          <a:xfrm>
            <a:off x="-342900" y="6768272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20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EF49AD98-9ACA-8F96-2C66-7AC787E8599A}"/>
              </a:ext>
            </a:extLst>
          </p:cNvPr>
          <p:cNvSpPr txBox="1"/>
          <p:nvPr/>
        </p:nvSpPr>
        <p:spPr>
          <a:xfrm>
            <a:off x="-12827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287"/>
              </a:lnSpc>
            </a:pPr>
            <a:r>
              <a:rPr lang="ko-KR" alt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분석  결과  및  인사이트  도출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BDB5CB1-AEBA-0687-F3CC-3F472C043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8509" y="3228589"/>
            <a:ext cx="5395384" cy="2972432"/>
          </a:xfrm>
          <a:prstGeom prst="rect">
            <a:avLst/>
          </a:prstGeom>
        </p:spPr>
      </p:pic>
      <p:sp>
        <p:nvSpPr>
          <p:cNvPr id="25" name="TextBox 7">
            <a:extLst>
              <a:ext uri="{FF2B5EF4-FFF2-40B4-BE49-F238E27FC236}">
                <a16:creationId xmlns:a16="http://schemas.microsoft.com/office/drawing/2014/main" id="{DF123138-AD94-11CD-1C5E-56964008F23A}"/>
              </a:ext>
            </a:extLst>
          </p:cNvPr>
          <p:cNvSpPr txBox="1"/>
          <p:nvPr/>
        </p:nvSpPr>
        <p:spPr>
          <a:xfrm>
            <a:off x="506994" y="5130080"/>
            <a:ext cx="4648200" cy="9971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500" b="1" dirty="0">
                <a:solidFill>
                  <a:srgbClr val="000000"/>
                </a:solidFill>
              </a:rPr>
              <a:t>신속 알람 서비스를 사용하는 전문가의 경우</a:t>
            </a:r>
            <a:r>
              <a:rPr lang="en-US" altLang="ko-KR" sz="1500" b="1" dirty="0">
                <a:solidFill>
                  <a:srgbClr val="000000"/>
                </a:solidFill>
              </a:rPr>
              <a:t>,</a:t>
            </a:r>
          </a:p>
          <a:p>
            <a:pPr lvl="0" algn="r">
              <a:lnSpc>
                <a:spcPct val="116199"/>
              </a:lnSpc>
              <a:buClr>
                <a:srgbClr val="000000"/>
              </a:buClr>
            </a:pPr>
            <a:r>
              <a:rPr lang="ko-KR" altLang="en-US" sz="1500" b="1" dirty="0">
                <a:solidFill>
                  <a:srgbClr val="000000"/>
                </a:solidFill>
              </a:rPr>
              <a:t>미사용자에 비해</a:t>
            </a:r>
            <a:endParaRPr lang="en-US" altLang="ko-KR" sz="1500" b="1" dirty="0">
              <a:solidFill>
                <a:srgbClr val="000000"/>
              </a:solidFill>
            </a:endParaRPr>
          </a:p>
          <a:p>
            <a:pPr lvl="0" algn="r">
              <a:lnSpc>
                <a:spcPct val="116199"/>
              </a:lnSpc>
              <a:buClr>
                <a:srgbClr val="000000"/>
              </a:buClr>
            </a:pPr>
            <a:r>
              <a:rPr lang="ko-KR" altLang="en-US" sz="1500" b="1" dirty="0">
                <a:solidFill>
                  <a:srgbClr val="000000"/>
                </a:solidFill>
              </a:rPr>
              <a:t>판매 서비스 수가 높으면서 평균판매금액이 매우 낮음</a:t>
            </a:r>
            <a:r>
              <a:rPr lang="en-US" altLang="ko-KR" sz="1500" b="1" dirty="0">
                <a:solidFill>
                  <a:srgbClr val="000000"/>
                </a:solidFill>
              </a:rPr>
              <a:t>.</a:t>
            </a:r>
            <a:endParaRPr lang="en-US" sz="1500" b="1" i="0" u="none" strike="noStrike" dirty="0">
              <a:solidFill>
                <a:srgbClr val="000000"/>
              </a:solidFill>
            </a:endParaRP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0EB875C4-ECB4-2126-4DFC-700768F020A3}"/>
              </a:ext>
            </a:extLst>
          </p:cNvPr>
          <p:cNvSpPr txBox="1"/>
          <p:nvPr/>
        </p:nvSpPr>
        <p:spPr>
          <a:xfrm>
            <a:off x="622300" y="6413960"/>
            <a:ext cx="9871517" cy="6574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000" b="1" dirty="0">
                <a:solidFill>
                  <a:srgbClr val="000000"/>
                </a:solidFill>
              </a:rPr>
              <a:t>신속 알람 서비스를 사용하면</a:t>
            </a:r>
            <a:r>
              <a:rPr lang="en-US" altLang="ko-KR" sz="2000" b="1" dirty="0">
                <a:solidFill>
                  <a:srgbClr val="000000"/>
                </a:solidFill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판매 서비스 수</a:t>
            </a:r>
            <a:r>
              <a:rPr lang="en-US" altLang="ko-KR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거래 </a:t>
            </a:r>
            <a:r>
              <a:rPr lang="ko-KR" altLang="en-US" sz="2000" b="1" dirty="0" err="1">
                <a:solidFill>
                  <a:srgbClr val="000000"/>
                </a:solidFill>
                <a:highlight>
                  <a:srgbClr val="FFFF00"/>
                </a:highlight>
              </a:rPr>
              <a:t>성사율</a:t>
            </a:r>
            <a:r>
              <a:rPr lang="en-US" altLang="ko-KR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가 높고</a:t>
            </a:r>
            <a:r>
              <a:rPr lang="en-US" altLang="ko-KR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평균 판매 금액이 낮은 </a:t>
            </a:r>
            <a:r>
              <a:rPr lang="en-US" altLang="ko-KR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적절한 거래비용</a:t>
            </a:r>
            <a:r>
              <a:rPr lang="en-US" altLang="ko-KR" sz="2000" b="1" dirty="0">
                <a:solidFill>
                  <a:srgbClr val="000000"/>
                </a:solidFill>
              </a:rPr>
              <a:t>) </a:t>
            </a:r>
            <a:r>
              <a:rPr lang="ko-KR" altLang="en-US" sz="2000" b="1" dirty="0">
                <a:solidFill>
                  <a:srgbClr val="000000"/>
                </a:solidFill>
              </a:rPr>
              <a:t>점에서 신속 알람 서비스 사용이</a:t>
            </a:r>
            <a:r>
              <a:rPr lang="en-US" altLang="ko-KR" sz="2000" b="1" dirty="0">
                <a:solidFill>
                  <a:srgbClr val="000000"/>
                </a:solidFill>
              </a:rPr>
              <a:t> L</a:t>
            </a:r>
            <a:r>
              <a:rPr lang="ko-KR" altLang="en-US" sz="2000" b="1" dirty="0">
                <a:solidFill>
                  <a:srgbClr val="000000"/>
                </a:solidFill>
              </a:rPr>
              <a:t>사에 유리하다는 결론</a:t>
            </a:r>
            <a:endParaRPr lang="en-US" sz="2000" b="1" i="0" u="none" strike="noStrik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1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A8883-8856-8692-2999-F2CB328F5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B638C2A-D657-D8FB-CB56-90F224048F5C}"/>
              </a:ext>
            </a:extLst>
          </p:cNvPr>
          <p:cNvSpPr txBox="1"/>
          <p:nvPr/>
        </p:nvSpPr>
        <p:spPr>
          <a:xfrm>
            <a:off x="2506499" y="810149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분석 결과 및</a:t>
            </a:r>
            <a:endParaRPr lang="en-US" altLang="ko-KR" sz="3100" b="1" i="0" u="none" strike="noStrike" spc="-200" dirty="0">
              <a:solidFill>
                <a:srgbClr val="4C4747"/>
              </a:solidFill>
              <a:ea typeface="Noto Sans CJK KR Regular"/>
            </a:endParaRPr>
          </a:p>
          <a:p>
            <a:pPr lvl="0" algn="l">
              <a:lnSpc>
                <a:spcPct val="95533"/>
              </a:lnSpc>
            </a:pP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인사이트 도출 </a:t>
            </a:r>
            <a:r>
              <a:rPr lang="en-US" altLang="ko-KR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2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4B9B411-3569-0729-9F0C-B802AEC53F6D}"/>
              </a:ext>
            </a:extLst>
          </p:cNvPr>
          <p:cNvSpPr txBox="1"/>
          <p:nvPr/>
        </p:nvSpPr>
        <p:spPr>
          <a:xfrm>
            <a:off x="5260211" y="664719"/>
            <a:ext cx="4186178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소비자 니즈 파악</a:t>
            </a:r>
            <a:endParaRPr lang="en-US" altLang="ko-KR" sz="1900" b="0" i="0" u="none" strike="noStrike" spc="-100" dirty="0">
              <a:solidFill>
                <a:srgbClr val="4C50BB"/>
              </a:solidFill>
              <a:ea typeface="Noto Sans CJK KR Regular"/>
            </a:endParaRPr>
          </a:p>
          <a:p>
            <a:pPr lvl="0" algn="l">
              <a:lnSpc>
                <a:spcPct val="115287"/>
              </a:lnSpc>
            </a:pPr>
            <a:r>
              <a:rPr lang="en-US" alt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- </a:t>
            </a: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대분류별 평균 판매금액 정규성 검정</a:t>
            </a:r>
            <a:endParaRPr lang="en-US" altLang="ko-KR" sz="1900" b="0" i="0" u="none" strike="noStrike" spc="-100" dirty="0">
              <a:solidFill>
                <a:srgbClr val="4C50BB"/>
              </a:solidFill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B9DE77F-E374-061F-EEE4-4E9C1CDE813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68BFBC5-8E3D-94D0-8F78-33B578E54CD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16A8F97-7EF4-193B-1F4F-5671C871A91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B306CA87-6B29-6161-4ADB-55A811C6E48C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21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119120A-54C1-9A29-32CC-8F3F0F8C5F60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분석  결과  및  인사이트  도출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7E2D2762-00C0-02C1-29E9-9EA2EC58FB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00100" y="4559300"/>
            <a:ext cx="3187700" cy="3162300"/>
          </a:xfrm>
          <a:prstGeom prst="rect">
            <a:avLst/>
          </a:prstGeom>
        </p:spPr>
      </p:pic>
      <p:sp>
        <p:nvSpPr>
          <p:cNvPr id="31" name="TextBox 7">
            <a:extLst>
              <a:ext uri="{FF2B5EF4-FFF2-40B4-BE49-F238E27FC236}">
                <a16:creationId xmlns:a16="http://schemas.microsoft.com/office/drawing/2014/main" id="{947DE62F-3F69-33BC-16C8-D7300E9F2C58}"/>
              </a:ext>
            </a:extLst>
          </p:cNvPr>
          <p:cNvSpPr txBox="1"/>
          <p:nvPr/>
        </p:nvSpPr>
        <p:spPr>
          <a:xfrm>
            <a:off x="88900" y="6460464"/>
            <a:ext cx="10604500" cy="7830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600" b="1" dirty="0">
                <a:solidFill>
                  <a:srgbClr val="000000"/>
                </a:solidFill>
              </a:rPr>
              <a:t>판매수와 총판매금액에서 상위를 차지하는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홈페이지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데이터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프로그래밍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프로그램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모바일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커머스에 집중할 필요</a:t>
            </a:r>
            <a:endParaRPr lang="en-US" altLang="ko-KR" sz="16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600" b="1" dirty="0">
                <a:solidFill>
                  <a:srgbClr val="000000"/>
                </a:solidFill>
              </a:rPr>
              <a:t>검정 결과 대립가설 채택</a:t>
            </a:r>
            <a:r>
              <a:rPr lang="en-US" altLang="ko-KR" sz="1600" b="1" dirty="0">
                <a:solidFill>
                  <a:srgbClr val="000000"/>
                </a:solidFill>
              </a:rPr>
              <a:t> -&gt; </a:t>
            </a:r>
            <a:r>
              <a:rPr lang="ko-KR" altLang="en-US" sz="1600" b="1" dirty="0">
                <a:solidFill>
                  <a:srgbClr val="000000"/>
                </a:solidFill>
              </a:rPr>
              <a:t>각</a:t>
            </a:r>
            <a:r>
              <a:rPr lang="en-US" altLang="ko-KR" sz="1600" b="1" dirty="0">
                <a:solidFill>
                  <a:srgbClr val="000000"/>
                </a:solidFill>
              </a:rPr>
              <a:t> </a:t>
            </a:r>
            <a:r>
              <a:rPr lang="ko-KR" altLang="en-US" sz="1600" b="1" dirty="0">
                <a:solidFill>
                  <a:srgbClr val="000000"/>
                </a:solidFill>
              </a:rPr>
              <a:t>대분류의 수익 평균 차이가 </a:t>
            </a:r>
            <a:r>
              <a:rPr lang="ko-KR" altLang="en-US" sz="1600" b="1" dirty="0" err="1">
                <a:solidFill>
                  <a:srgbClr val="000000"/>
                </a:solidFill>
              </a:rPr>
              <a:t>유의미</a:t>
            </a:r>
            <a:endParaRPr lang="en-US" altLang="ko-KR" sz="1600" b="1" i="0" u="none" strike="noStrike" dirty="0">
              <a:solidFill>
                <a:srgbClr val="000000"/>
              </a:solidFill>
            </a:endParaRP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600" b="1" dirty="0">
                <a:solidFill>
                  <a:srgbClr val="000000"/>
                </a:solidFill>
              </a:rPr>
              <a:t>평균 판매금액 높은 순으로 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홈페이지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모바일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프로그래밍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데이터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600" b="1" dirty="0">
                <a:solidFill>
                  <a:srgbClr val="000000"/>
                </a:solidFill>
                <a:highlight>
                  <a:srgbClr val="FFFF00"/>
                </a:highlight>
              </a:rPr>
              <a:t>프로그램 판매에 집중할 필요</a:t>
            </a:r>
            <a:endParaRPr lang="en-US" altLang="ko-KR" sz="1600" b="1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pic>
        <p:nvPicPr>
          <p:cNvPr id="39" name="Picture 5">
            <a:extLst>
              <a:ext uri="{FF2B5EF4-FFF2-40B4-BE49-F238E27FC236}">
                <a16:creationId xmlns:a16="http://schemas.microsoft.com/office/drawing/2014/main" id="{27748B68-2348-A49F-8E52-5A3EEF32CD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D60A58-86FB-240B-5041-6D9D839FF0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073" r="50154"/>
          <a:stretch/>
        </p:blipFill>
        <p:spPr>
          <a:xfrm>
            <a:off x="4969654" y="1779833"/>
            <a:ext cx="5394713" cy="3741594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86D2DF6E-1F12-07A9-46CD-1CAAA59A34BF}"/>
              </a:ext>
            </a:extLst>
          </p:cNvPr>
          <p:cNvSpPr txBox="1"/>
          <p:nvPr/>
        </p:nvSpPr>
        <p:spPr>
          <a:xfrm>
            <a:off x="5058458" y="1281295"/>
            <a:ext cx="3268579" cy="44076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altLang="ko-KR" sz="1500" dirty="0">
                <a:solidFill>
                  <a:srgbClr val="4C50BB"/>
                </a:solidFill>
                <a:ea typeface="Noto Sans CJK KR Regular"/>
              </a:rPr>
              <a:t>(</a:t>
            </a:r>
            <a:r>
              <a:rPr lang="ko-KR" altLang="en-US" sz="1500" dirty="0">
                <a:solidFill>
                  <a:srgbClr val="4C50BB"/>
                </a:solidFill>
                <a:ea typeface="Noto Sans CJK KR Regular"/>
              </a:rPr>
              <a:t>비정규 그래프 </a:t>
            </a:r>
            <a:r>
              <a:rPr lang="en-US" altLang="ko-KR" sz="1500" dirty="0">
                <a:solidFill>
                  <a:srgbClr val="4C50BB"/>
                </a:solidFill>
                <a:ea typeface="Noto Sans CJK KR Regular"/>
              </a:rPr>
              <a:t>-&gt;</a:t>
            </a:r>
            <a:r>
              <a:rPr lang="ko-KR" altLang="en-US" sz="1500" dirty="0">
                <a:solidFill>
                  <a:srgbClr val="4C50BB"/>
                </a:solidFill>
                <a:ea typeface="Noto Sans CJK KR Regular"/>
              </a:rPr>
              <a:t> </a:t>
            </a:r>
            <a:r>
              <a:rPr lang="en-US" altLang="ko-KR" sz="1500" dirty="0">
                <a:solidFill>
                  <a:srgbClr val="4C50BB"/>
                </a:solidFill>
                <a:ea typeface="Noto Sans CJK KR Regular"/>
              </a:rPr>
              <a:t>Kruskal </a:t>
            </a:r>
            <a:r>
              <a:rPr lang="ko-KR" altLang="en-US" sz="1500" dirty="0">
                <a:solidFill>
                  <a:srgbClr val="4C50BB"/>
                </a:solidFill>
                <a:ea typeface="Noto Sans CJK KR Regular"/>
              </a:rPr>
              <a:t>검정 진행</a:t>
            </a:r>
            <a:r>
              <a:rPr lang="en-US" altLang="ko-KR" sz="1500" dirty="0">
                <a:solidFill>
                  <a:srgbClr val="4C50BB"/>
                </a:solidFill>
                <a:ea typeface="Noto Sans CJK KR Regular"/>
              </a:rPr>
              <a:t>)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F337BDD4-9162-3F53-8C92-B7A3703BA754}"/>
              </a:ext>
            </a:extLst>
          </p:cNvPr>
          <p:cNvSpPr txBox="1"/>
          <p:nvPr/>
        </p:nvSpPr>
        <p:spPr>
          <a:xfrm>
            <a:off x="1376831" y="5789367"/>
            <a:ext cx="9186779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altLang="ko-KR" sz="1500" dirty="0">
                <a:ea typeface="Noto Sans CJK KR Regular"/>
              </a:rPr>
              <a:t>*</a:t>
            </a:r>
            <a:r>
              <a:rPr lang="ko-KR" altLang="en-US" sz="1500" dirty="0">
                <a:ea typeface="Noto Sans CJK KR Regular"/>
              </a:rPr>
              <a:t>검정 대상</a:t>
            </a:r>
            <a:r>
              <a:rPr lang="en-US" altLang="ko-KR" sz="1500" dirty="0">
                <a:ea typeface="Noto Sans CJK KR Regular"/>
              </a:rPr>
              <a:t>:</a:t>
            </a:r>
            <a:r>
              <a:rPr lang="ko-KR" altLang="en-US" sz="1500" dirty="0">
                <a:ea typeface="Noto Sans CJK KR Regular"/>
              </a:rPr>
              <a:t>빈도수가 가장 높은</a:t>
            </a:r>
            <a:r>
              <a:rPr lang="en-US" altLang="ko-KR" sz="1500" dirty="0">
                <a:ea typeface="Noto Sans CJK KR Regular"/>
              </a:rPr>
              <a:t> </a:t>
            </a:r>
            <a:r>
              <a:rPr lang="ko-KR" altLang="en-US" sz="1500" dirty="0">
                <a:ea typeface="Noto Sans CJK KR Regular"/>
              </a:rPr>
              <a:t>홈페이지</a:t>
            </a:r>
            <a:r>
              <a:rPr lang="en-US" altLang="ko-KR" sz="1500" dirty="0">
                <a:ea typeface="Noto Sans CJK KR Regular"/>
              </a:rPr>
              <a:t>/</a:t>
            </a:r>
            <a:r>
              <a:rPr lang="ko-KR" altLang="en-US" sz="1500" dirty="0">
                <a:ea typeface="Noto Sans CJK KR Regular"/>
              </a:rPr>
              <a:t>모바일</a:t>
            </a:r>
            <a:r>
              <a:rPr lang="en-US" altLang="ko-KR" sz="1500" dirty="0">
                <a:ea typeface="Noto Sans CJK KR Regular"/>
              </a:rPr>
              <a:t>/</a:t>
            </a:r>
            <a:r>
              <a:rPr lang="ko-KR" altLang="en-US" sz="1500" dirty="0">
                <a:ea typeface="Noto Sans CJK KR Regular"/>
              </a:rPr>
              <a:t>프로그래밍</a:t>
            </a:r>
            <a:r>
              <a:rPr lang="en-US" altLang="ko-KR" sz="1500" dirty="0">
                <a:ea typeface="Noto Sans CJK KR Regular"/>
              </a:rPr>
              <a:t>/</a:t>
            </a:r>
            <a:r>
              <a:rPr lang="ko-KR" altLang="en-US" sz="1500" dirty="0">
                <a:ea typeface="Noto Sans CJK KR Regular"/>
              </a:rPr>
              <a:t>데이터</a:t>
            </a:r>
            <a:r>
              <a:rPr lang="en-US" altLang="ko-KR" sz="1500" dirty="0">
                <a:ea typeface="Noto Sans CJK KR Regular"/>
              </a:rPr>
              <a:t>/</a:t>
            </a:r>
            <a:r>
              <a:rPr lang="ko-KR" altLang="en-US" sz="1500" dirty="0">
                <a:ea typeface="Noto Sans CJK KR Regular"/>
              </a:rPr>
              <a:t>프로그램 </a:t>
            </a:r>
            <a:r>
              <a:rPr lang="en-US" altLang="ko-KR" sz="1500" dirty="0">
                <a:ea typeface="Noto Sans CJK KR Regular"/>
              </a:rPr>
              <a:t>(‘</a:t>
            </a:r>
            <a:r>
              <a:rPr lang="ko-KR" altLang="en-US" sz="1500" dirty="0">
                <a:ea typeface="Noto Sans CJK KR Regular"/>
              </a:rPr>
              <a:t>기타</a:t>
            </a:r>
            <a:r>
              <a:rPr lang="en-US" altLang="ko-KR" sz="1500" dirty="0">
                <a:ea typeface="Noto Sans CJK KR Regular"/>
              </a:rPr>
              <a:t>’</a:t>
            </a:r>
            <a:r>
              <a:rPr lang="ko-KR" altLang="en-US" sz="1500" dirty="0">
                <a:ea typeface="Noto Sans CJK KR Regular"/>
              </a:rPr>
              <a:t>항목 제외</a:t>
            </a:r>
            <a:r>
              <a:rPr lang="en-US" altLang="ko-KR" sz="1500" dirty="0">
                <a:ea typeface="Noto Sans CJK KR Regular"/>
              </a:rPr>
              <a:t>)</a:t>
            </a:r>
          </a:p>
          <a:p>
            <a:pPr lvl="0" algn="r">
              <a:lnSpc>
                <a:spcPct val="99600"/>
              </a:lnSpc>
            </a:pPr>
            <a:r>
              <a:rPr lang="en-US" altLang="ko-KR" sz="1500" dirty="0">
                <a:ea typeface="Noto Sans CJK KR Regular"/>
              </a:rPr>
              <a:t>P-value : </a:t>
            </a:r>
            <a:r>
              <a:rPr lang="en-US" altLang="ko-KR" sz="1500" dirty="0">
                <a:solidFill>
                  <a:srgbClr val="000000"/>
                </a:solidFill>
              </a:rPr>
              <a:t>3.471420302021922e-17</a:t>
            </a:r>
            <a:endParaRPr lang="ko-KR" sz="1500" i="0" u="none" strike="noStrike" dirty="0">
              <a:ea typeface="Noto Sans CJK KR Regular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D3D84F-8314-49A6-D600-E4D8898DA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" y="2111120"/>
            <a:ext cx="3916763" cy="326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00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D66F4-2430-C302-FAFD-FCE829A4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6501189-EC87-DA7B-80A9-E511A40A2BD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BFA772F-D723-A582-82E6-E46D7D6ED0BD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0D60574-9C64-9601-EA6E-FC1A594E23F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1294E738-79F7-9067-58C1-08C5587E4EFC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b="0" i="0" u="none" strike="noStrike" dirty="0">
                <a:solidFill>
                  <a:schemeClr val="bg1">
                    <a:lumMod val="75000"/>
                  </a:schemeClr>
                </a:solidFill>
                <a:latin typeface="Noto Sans CJK KR Regular"/>
              </a:rPr>
              <a:t>22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4DBE4290-2979-FEA0-0B1B-871DDC5EA898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분석  결과  및  인사이트  도출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B7C41F36-677D-AAB3-E3BD-E427614366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00100" y="4559300"/>
            <a:ext cx="3187700" cy="3162300"/>
          </a:xfrm>
          <a:prstGeom prst="rect">
            <a:avLst/>
          </a:prstGeom>
        </p:spPr>
      </p:pic>
      <p:pic>
        <p:nvPicPr>
          <p:cNvPr id="39" name="Picture 5">
            <a:extLst>
              <a:ext uri="{FF2B5EF4-FFF2-40B4-BE49-F238E27FC236}">
                <a16:creationId xmlns:a16="http://schemas.microsoft.com/office/drawing/2014/main" id="{5D3537DC-ABD6-AB22-59C4-185C4EBF3C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975E1A75-97D6-82B0-6260-3B4E6B7EAA63}"/>
              </a:ext>
            </a:extLst>
          </p:cNvPr>
          <p:cNvSpPr txBox="1"/>
          <p:nvPr/>
        </p:nvSpPr>
        <p:spPr>
          <a:xfrm>
            <a:off x="1160522" y="1989943"/>
            <a:ext cx="4567177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i="0" u="none" strike="noStrike" spc="-200" dirty="0">
                <a:solidFill>
                  <a:srgbClr val="4C4747"/>
                </a:solidFill>
                <a:ea typeface="Noto Sans CJK KR Regular"/>
              </a:rPr>
              <a:t>분석 결과 </a:t>
            </a: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및 인사이트 도출 </a:t>
            </a:r>
            <a:r>
              <a:rPr lang="en-US" altLang="ko-KR" sz="3100" b="1" spc="-200" dirty="0">
                <a:solidFill>
                  <a:srgbClr val="4C4747"/>
                </a:solidFill>
                <a:ea typeface="Noto Sans CJK KR Regular"/>
              </a:rPr>
              <a:t>3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0C44E85-FDD9-6304-CC55-42CA8E5C656D}"/>
              </a:ext>
            </a:extLst>
          </p:cNvPr>
          <p:cNvSpPr txBox="1"/>
          <p:nvPr/>
        </p:nvSpPr>
        <p:spPr>
          <a:xfrm>
            <a:off x="1160523" y="2548743"/>
            <a:ext cx="28448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수수료율 상관관계 검정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F5028D-F869-F2B2-A6B1-BC76A1CB0179}"/>
              </a:ext>
            </a:extLst>
          </p:cNvPr>
          <p:cNvSpPr/>
          <p:nvPr/>
        </p:nvSpPr>
        <p:spPr>
          <a:xfrm>
            <a:off x="393700" y="3251200"/>
            <a:ext cx="4864103" cy="4475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서비스 총 </a:t>
            </a:r>
            <a:r>
              <a:rPr lang="ko-KR" altLang="en-US" dirty="0" err="1"/>
              <a:t>구매수</a:t>
            </a:r>
            <a:r>
              <a:rPr lang="en-US" altLang="ko-KR" dirty="0"/>
              <a:t> -</a:t>
            </a:r>
            <a:r>
              <a:rPr lang="ko-KR" altLang="en-US" dirty="0"/>
              <a:t> 수수료율 상관관계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D5DEA9-7D51-103C-3869-B221BDEBB892}"/>
              </a:ext>
            </a:extLst>
          </p:cNvPr>
          <p:cNvSpPr/>
          <p:nvPr/>
        </p:nvSpPr>
        <p:spPr>
          <a:xfrm>
            <a:off x="5359399" y="3251200"/>
            <a:ext cx="4864103" cy="4475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판매 서비스 수 </a:t>
            </a:r>
            <a:r>
              <a:rPr lang="en-US" altLang="ko-KR" dirty="0"/>
              <a:t>– </a:t>
            </a:r>
            <a:r>
              <a:rPr lang="ko-KR" altLang="en-US" dirty="0"/>
              <a:t>수수료율 상관관계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B2381E2-FA3A-87FA-F7BD-CDBAA1E09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349297"/>
              </p:ext>
            </p:extLst>
          </p:nvPr>
        </p:nvGraphicFramePr>
        <p:xfrm>
          <a:off x="393700" y="3684249"/>
          <a:ext cx="4864101" cy="138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367">
                  <a:extLst>
                    <a:ext uri="{9D8B030D-6E8A-4147-A177-3AD203B41FA5}">
                      <a16:colId xmlns:a16="http://schemas.microsoft.com/office/drawing/2014/main" val="728400783"/>
                    </a:ext>
                  </a:extLst>
                </a:gridCol>
                <a:gridCol w="1621367">
                  <a:extLst>
                    <a:ext uri="{9D8B030D-6E8A-4147-A177-3AD203B41FA5}">
                      <a16:colId xmlns:a16="http://schemas.microsoft.com/office/drawing/2014/main" val="461580604"/>
                    </a:ext>
                  </a:extLst>
                </a:gridCol>
                <a:gridCol w="1621367">
                  <a:extLst>
                    <a:ext uri="{9D8B030D-6E8A-4147-A177-3AD203B41FA5}">
                      <a16:colId xmlns:a16="http://schemas.microsoft.com/office/drawing/2014/main" val="2744377599"/>
                    </a:ext>
                  </a:extLst>
                </a:gridCol>
              </a:tblGrid>
              <a:tr h="34358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평균수수료율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서비스총구매수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333223"/>
                  </a:ext>
                </a:extLst>
              </a:tr>
              <a:tr h="5195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평균수수료율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1.00000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0.227437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368350"/>
                  </a:ext>
                </a:extLst>
              </a:tr>
              <a:tr h="5195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서비스총구매수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0.227437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1.00000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497145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0D9BEFD1-CE39-AF34-2E00-883AF4D08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005606"/>
              </p:ext>
            </p:extLst>
          </p:nvPr>
        </p:nvGraphicFramePr>
        <p:xfrm>
          <a:off x="5359398" y="3673197"/>
          <a:ext cx="4864101" cy="1393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367">
                  <a:extLst>
                    <a:ext uri="{9D8B030D-6E8A-4147-A177-3AD203B41FA5}">
                      <a16:colId xmlns:a16="http://schemas.microsoft.com/office/drawing/2014/main" val="728400783"/>
                    </a:ext>
                  </a:extLst>
                </a:gridCol>
                <a:gridCol w="1621367">
                  <a:extLst>
                    <a:ext uri="{9D8B030D-6E8A-4147-A177-3AD203B41FA5}">
                      <a16:colId xmlns:a16="http://schemas.microsoft.com/office/drawing/2014/main" val="461580604"/>
                    </a:ext>
                  </a:extLst>
                </a:gridCol>
                <a:gridCol w="1621367">
                  <a:extLst>
                    <a:ext uri="{9D8B030D-6E8A-4147-A177-3AD203B41FA5}">
                      <a16:colId xmlns:a16="http://schemas.microsoft.com/office/drawing/2014/main" val="2744377599"/>
                    </a:ext>
                  </a:extLst>
                </a:gridCol>
              </a:tblGrid>
              <a:tr h="34633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평균수수료율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판매서비스수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333223"/>
                  </a:ext>
                </a:extLst>
              </a:tr>
              <a:tr h="5236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평균수수료율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1.00000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0.135078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368350"/>
                  </a:ext>
                </a:extLst>
              </a:tr>
              <a:tr h="5236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판매서비스수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0.135078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1.00000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497145"/>
                  </a:ext>
                </a:extLst>
              </a:tr>
            </a:tbl>
          </a:graphicData>
        </a:graphic>
      </p:graphicFrame>
      <p:sp>
        <p:nvSpPr>
          <p:cNvPr id="23" name="TextBox 7">
            <a:extLst>
              <a:ext uri="{FF2B5EF4-FFF2-40B4-BE49-F238E27FC236}">
                <a16:creationId xmlns:a16="http://schemas.microsoft.com/office/drawing/2014/main" id="{0F4C4B8D-C655-6F7D-28A5-E3AE7E794DFA}"/>
              </a:ext>
            </a:extLst>
          </p:cNvPr>
          <p:cNvSpPr txBox="1"/>
          <p:nvPr/>
        </p:nvSpPr>
        <p:spPr>
          <a:xfrm>
            <a:off x="1123066" y="5473238"/>
            <a:ext cx="8770234" cy="6574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000" b="1" dirty="0">
                <a:solidFill>
                  <a:srgbClr val="000000"/>
                </a:solidFill>
              </a:rPr>
              <a:t>서비스 총 </a:t>
            </a:r>
            <a:r>
              <a:rPr lang="ko-KR" altLang="en-US" sz="2000" b="1" dirty="0" err="1">
                <a:solidFill>
                  <a:srgbClr val="000000"/>
                </a:solidFill>
              </a:rPr>
              <a:t>구매수</a:t>
            </a:r>
            <a:r>
              <a:rPr lang="en-US" altLang="ko-KR" sz="2000" b="1" dirty="0">
                <a:solidFill>
                  <a:srgbClr val="000000"/>
                </a:solidFill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</a:rPr>
              <a:t>판매 서비스 수는 수수료율과 </a:t>
            </a:r>
            <a:r>
              <a:rPr lang="ko-KR" altLang="en-US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작은 양의 상관관계</a:t>
            </a:r>
            <a:r>
              <a:rPr lang="ko-KR" altLang="en-US" sz="2000" b="1" dirty="0">
                <a:solidFill>
                  <a:srgbClr val="000000"/>
                </a:solidFill>
              </a:rPr>
              <a:t>를 가지므로 거래 성사율에 영향을 미치는 </a:t>
            </a:r>
            <a:r>
              <a:rPr lang="ko-KR" altLang="en-US" sz="2000" b="1" dirty="0">
                <a:solidFill>
                  <a:srgbClr val="000000"/>
                </a:solidFill>
                <a:highlight>
                  <a:srgbClr val="FFFF00"/>
                </a:highlight>
              </a:rPr>
              <a:t>다른 요인 모색 필요</a:t>
            </a:r>
            <a:endParaRPr lang="en-US" sz="2000" b="1" i="0" u="none" strike="noStrike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38918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C19B1-6A3A-8D9C-08EC-5CB93145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D22C222-B3C9-0F2E-F80D-9B41756A2BAF}"/>
              </a:ext>
            </a:extLst>
          </p:cNvPr>
          <p:cNvSpPr txBox="1"/>
          <p:nvPr/>
        </p:nvSpPr>
        <p:spPr>
          <a:xfrm>
            <a:off x="79375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8700" b="0" i="0" u="none" strike="noStrike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F20DD01-2244-CF41-CC9D-187BA413C2FE}"/>
              </a:ext>
            </a:extLst>
          </p:cNvPr>
          <p:cNvSpPr txBox="1"/>
          <p:nvPr/>
        </p:nvSpPr>
        <p:spPr>
          <a:xfrm>
            <a:off x="4203700" y="3759200"/>
            <a:ext cx="5511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3700" spc="-300" dirty="0">
                <a:solidFill>
                  <a:srgbClr val="FFFFFF"/>
                </a:solidFill>
                <a:ea typeface="Noto Sans CJK KR Regular"/>
              </a:rPr>
              <a:t>개선안</a:t>
            </a:r>
            <a:endParaRPr lang="ko-KR" sz="3700" b="0" i="0" u="none" strike="noStrike" spc="-300" dirty="0">
              <a:solidFill>
                <a:srgbClr val="FFFFFF"/>
              </a:solidFill>
              <a:ea typeface="Noto Sans CJK KR Regular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656FF8E-8470-63DF-EA81-938712BDC7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63600" y="25400"/>
            <a:ext cx="2857500" cy="283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8747885-753F-9EA8-F712-6BD669CE6E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2700000">
            <a:off x="-1092200" y="4889500"/>
            <a:ext cx="2286000" cy="2324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2467E3F-1ED8-4B9A-427E-A3A155FFECB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8851900" y="5232400"/>
            <a:ext cx="2171700" cy="21463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E21B161-40E4-C951-5741-90B6622D8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2857500"/>
            <a:ext cx="8382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8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5C460-6A0D-93EF-0585-CDEA17A4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DB919E8-B9E5-2422-560E-0A1FD3EEA454}"/>
              </a:ext>
            </a:extLst>
          </p:cNvPr>
          <p:cNvSpPr txBox="1"/>
          <p:nvPr/>
        </p:nvSpPr>
        <p:spPr>
          <a:xfrm>
            <a:off x="1363122" y="2043083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개선안 </a:t>
            </a:r>
            <a:r>
              <a:rPr lang="en-US" altLang="ko-KR" sz="3100" b="1" spc="-200" dirty="0">
                <a:solidFill>
                  <a:srgbClr val="4C4747"/>
                </a:solidFill>
                <a:ea typeface="Noto Sans CJK KR Regular"/>
              </a:rPr>
              <a:t>1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078D7EB-21A2-0403-1531-87D5D12CCAC4}"/>
              </a:ext>
            </a:extLst>
          </p:cNvPr>
          <p:cNvSpPr txBox="1"/>
          <p:nvPr/>
        </p:nvSpPr>
        <p:spPr>
          <a:xfrm>
            <a:off x="1363122" y="2601883"/>
            <a:ext cx="2078578" cy="34451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en-US" sz="1900" spc="-100" dirty="0">
                <a:solidFill>
                  <a:srgbClr val="4C50BB"/>
                </a:solidFill>
                <a:ea typeface="Noto Sans CJK KR Regular"/>
              </a:rPr>
              <a:t>ITO_</a:t>
            </a: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전문가 유치 방안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7F5B771-947B-F15A-A918-3AD42F8169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6DD0F7B4-6215-4CD5-DD73-F57F5DA284E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6D775C2-97E6-89D0-5E25-838C93A1F04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BD07171-E7A5-D926-4FB9-EBE4E555E6D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8BF928E8-42B9-4BC1-B5F6-3AC154C15442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</a:rPr>
              <a:t>24</a:t>
            </a: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97AAC1C8-F7F5-B0F2-5DBE-C48DC572D7FE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개선안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865BBC7-DBCE-8DCC-96BF-BEBB7A8153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6337300" y="1728673"/>
            <a:ext cx="3187700" cy="316230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EA969D4B-59D1-F2BE-B247-63D006590AEC}"/>
              </a:ext>
            </a:extLst>
          </p:cNvPr>
          <p:cNvSpPr txBox="1"/>
          <p:nvPr/>
        </p:nvSpPr>
        <p:spPr>
          <a:xfrm>
            <a:off x="583879" y="2465002"/>
            <a:ext cx="9753600" cy="2439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1887"/>
              </a:lnSpc>
            </a:pPr>
            <a:r>
              <a:rPr lang="en-US" altLang="ko-KR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1.     &lt; </a:t>
            </a:r>
            <a:r>
              <a:rPr lang="ko-KR" altLang="en-US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신속 알림 서비스 사용 유도 </a:t>
            </a:r>
            <a:r>
              <a:rPr lang="en-US" altLang="ko-KR" sz="2000" b="1" i="1" spc="-100" dirty="0">
                <a:solidFill>
                  <a:srgbClr val="4C4747"/>
                </a:solidFill>
                <a:ea typeface="Noto Sans CJK KR Regular"/>
              </a:rPr>
              <a:t>&gt;</a:t>
            </a:r>
          </a:p>
          <a:p>
            <a:pPr marL="342900" lvl="0" indent="-342900" algn="r">
              <a:lnSpc>
                <a:spcPct val="131887"/>
              </a:lnSpc>
              <a:buFontTx/>
              <a:buChar char="-"/>
            </a:pP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신속 알림 서비스를 사용하는 전문가에게 첫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3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개월간 판매금의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3%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인센티브 제공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  <a:p>
            <a:pPr lvl="0" algn="r">
              <a:lnSpc>
                <a:spcPct val="131887"/>
              </a:lnSpc>
            </a:pP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Why?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총 판매 서비스 수를 증가시킨다면 거래 성사율이 향상되어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플랫폼 활성화 효과 또한 기대할 수 있음</a:t>
            </a:r>
            <a:endParaRPr lang="en-US" altLang="ko-KR" sz="1900" b="0" i="0" u="none" strike="noStrike" spc="-100" dirty="0">
              <a:solidFill>
                <a:srgbClr val="4C4747"/>
              </a:solidFill>
              <a:ea typeface="Noto Sans CJK KR Regular"/>
            </a:endParaRPr>
          </a:p>
          <a:p>
            <a:pPr lvl="0" algn="r">
              <a:lnSpc>
                <a:spcPct val="131887"/>
              </a:lnSpc>
            </a:pP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44571629-F184-9455-417B-F6EB93FC3BE8}"/>
              </a:ext>
            </a:extLst>
          </p:cNvPr>
          <p:cNvSpPr txBox="1"/>
          <p:nvPr/>
        </p:nvSpPr>
        <p:spPr>
          <a:xfrm>
            <a:off x="2463800" y="4662951"/>
            <a:ext cx="8001000" cy="2439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1887"/>
              </a:lnSpc>
            </a:pPr>
            <a:r>
              <a:rPr lang="en-US" altLang="ko-KR" sz="2000" b="1" i="1" spc="-100" dirty="0">
                <a:solidFill>
                  <a:srgbClr val="4C4747"/>
                </a:solidFill>
                <a:ea typeface="Noto Sans CJK KR Regular"/>
              </a:rPr>
              <a:t>2.</a:t>
            </a:r>
            <a:r>
              <a:rPr lang="en-US" altLang="ko-KR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     &lt; </a:t>
            </a:r>
            <a:r>
              <a:rPr lang="ko-KR" altLang="en-US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커머스</a:t>
            </a:r>
            <a:r>
              <a:rPr lang="en-US" altLang="ko-KR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게임</a:t>
            </a:r>
            <a:r>
              <a:rPr lang="en-US" altLang="ko-KR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2000" b="1" i="1" spc="-100" dirty="0">
                <a:solidFill>
                  <a:srgbClr val="4C4747"/>
                </a:solidFill>
                <a:ea typeface="Noto Sans CJK KR Regular"/>
              </a:rPr>
              <a:t>데이터</a:t>
            </a:r>
            <a:r>
              <a:rPr lang="en-US" altLang="ko-KR" sz="2000" b="1" i="1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2000" b="1" i="1" spc="-100" dirty="0">
                <a:solidFill>
                  <a:srgbClr val="4C4747"/>
                </a:solidFill>
                <a:ea typeface="Noto Sans CJK KR Regular"/>
              </a:rPr>
              <a:t>홈페이지 등 상위 서비스 전문가 초대 이벤트</a:t>
            </a:r>
            <a:r>
              <a:rPr lang="en-US" altLang="ko-KR" sz="2000" b="1" i="1" spc="-100" dirty="0">
                <a:solidFill>
                  <a:srgbClr val="4C4747"/>
                </a:solidFill>
                <a:ea typeface="Noto Sans CJK KR Regular"/>
              </a:rPr>
              <a:t>&gt;</a:t>
            </a:r>
          </a:p>
          <a:p>
            <a:pPr marL="342900" lvl="0" indent="-342900" algn="l">
              <a:lnSpc>
                <a:spcPct val="131887"/>
              </a:lnSpc>
              <a:buFontTx/>
              <a:buChar char="-"/>
            </a:pP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초대받은 전문가가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5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개 이상의 판매 서비스 수를 달성했을 시에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초대한 전문가에게 인센티브 제공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  <a:p>
            <a:pPr lvl="0" algn="l">
              <a:lnSpc>
                <a:spcPct val="131887"/>
              </a:lnSpc>
            </a:pP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Why?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대분류별 서비스당 평균 판매수가 유의미한 차이가 있으므로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, 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서비스 수요에 비해 공급이 적다고 해석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-&gt;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해당 대분류의 전문가 더 유치하면 다양한 서비스 제공이 가능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</p:txBody>
      </p:sp>
      <p:pic>
        <p:nvPicPr>
          <p:cNvPr id="20" name="image2.png">
            <a:extLst>
              <a:ext uri="{FF2B5EF4-FFF2-40B4-BE49-F238E27FC236}">
                <a16:creationId xmlns:a16="http://schemas.microsoft.com/office/drawing/2014/main" id="{6F54E72A-7BB0-5BB2-03CE-D85233B7E67B}"/>
              </a:ext>
            </a:extLst>
          </p:cNvPr>
          <p:cNvPicPr/>
          <p:nvPr/>
        </p:nvPicPr>
        <p:blipFill>
          <a:blip r:embed="rId4"/>
          <a:srcRect r="15306" b="55918"/>
          <a:stretch/>
        </p:blipFill>
        <p:spPr>
          <a:xfrm>
            <a:off x="75965" y="4655791"/>
            <a:ext cx="2260514" cy="225231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95388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96D2C-904A-CFDC-4CC4-DDC71F69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14EBDE5-8CB3-62FD-55CC-7AD1C8F5C91C}"/>
              </a:ext>
            </a:extLst>
          </p:cNvPr>
          <p:cNvSpPr txBox="1"/>
          <p:nvPr/>
        </p:nvSpPr>
        <p:spPr>
          <a:xfrm>
            <a:off x="539922" y="2586237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개선안 </a:t>
            </a:r>
            <a:r>
              <a:rPr lang="en-US" altLang="ko-KR" sz="3100" b="1" spc="-200" dirty="0">
                <a:solidFill>
                  <a:srgbClr val="4C4747"/>
                </a:solidFill>
                <a:ea typeface="Noto Sans CJK KR Regular"/>
              </a:rPr>
              <a:t>2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D3940BC-8820-41BA-60B8-D6146C06C3C1}"/>
              </a:ext>
            </a:extLst>
          </p:cNvPr>
          <p:cNvSpPr txBox="1"/>
          <p:nvPr/>
        </p:nvSpPr>
        <p:spPr>
          <a:xfrm>
            <a:off x="539922" y="3145037"/>
            <a:ext cx="2078578" cy="34451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en-US" sz="1900" spc="-100" dirty="0">
                <a:solidFill>
                  <a:srgbClr val="4C50BB"/>
                </a:solidFill>
                <a:ea typeface="Noto Sans CJK KR Regular"/>
              </a:rPr>
              <a:t>ITO_</a:t>
            </a: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고객 관리 방안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5F787C6-5638-D373-B8A5-A2640D80ED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D16C3782-037D-A12A-DC85-0CB861D1E19B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A67FA36-85C9-542A-24C5-AFDA5AC138C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DEA9F6B-993F-E950-3272-810388E64FC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6D819758-1FD0-FCB7-4C6D-0FB7A10A8F79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</a:rPr>
              <a:t>25</a:t>
            </a: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6C142DF-55EE-6397-032C-0D41824ACF30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개선안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6252E813-4F8B-FFC8-B034-FF29C2567D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2618500" y="3709629"/>
            <a:ext cx="3187700" cy="3162300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40215A60-2808-AD49-F662-697318077E2C}"/>
              </a:ext>
            </a:extLst>
          </p:cNvPr>
          <p:cNvSpPr txBox="1"/>
          <p:nvPr/>
        </p:nvSpPr>
        <p:spPr>
          <a:xfrm>
            <a:off x="241300" y="3784600"/>
            <a:ext cx="10636250" cy="361849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31887"/>
              </a:lnSpc>
            </a:pPr>
            <a:r>
              <a:rPr lang="en-US" altLang="ko-KR" sz="1900" b="1" i="0" u="none" strike="noStrike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en-US" altLang="ko-KR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&lt; RFM </a:t>
            </a:r>
            <a:r>
              <a:rPr lang="ko-KR" altLang="en-US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고객</a:t>
            </a:r>
            <a:r>
              <a:rPr lang="en-US" altLang="ko-KR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ko-KR" altLang="en-US" sz="2000" b="1" i="1" u="none" strike="noStrike" spc="-100" dirty="0">
                <a:solidFill>
                  <a:srgbClr val="4C4747"/>
                </a:solidFill>
                <a:ea typeface="Noto Sans CJK KR Regular"/>
              </a:rPr>
              <a:t>분석 및 맞춤 서비스</a:t>
            </a:r>
            <a:r>
              <a:rPr lang="en-US" altLang="ko-KR" sz="2000" b="1" i="1" spc="-100" dirty="0">
                <a:solidFill>
                  <a:srgbClr val="4C4747"/>
                </a:solidFill>
                <a:ea typeface="Noto Sans CJK KR Regular"/>
              </a:rPr>
              <a:t>&gt;</a:t>
            </a:r>
          </a:p>
          <a:p>
            <a:pPr marL="342900" lvl="0" indent="-342900">
              <a:lnSpc>
                <a:spcPct val="131887"/>
              </a:lnSpc>
              <a:buFontTx/>
              <a:buChar char="-"/>
            </a:pP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Recency(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최근성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), Frequency(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빈도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), Monetary(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금액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) 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을 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5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등급으로 나눈 후 모두 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555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인 고객을 </a:t>
            </a:r>
            <a:r>
              <a:rPr lang="en-US" altLang="ko-KR" sz="1900" spc="-100" dirty="0" err="1">
                <a:solidFill>
                  <a:srgbClr val="4C4747"/>
                </a:solidFill>
                <a:ea typeface="Noto Sans CJK KR Regular"/>
              </a:rPr>
              <a:t>vip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로 산정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  <a:p>
            <a:pPr marL="342900" lvl="0" indent="-342900">
              <a:lnSpc>
                <a:spcPct val="131887"/>
              </a:lnSpc>
              <a:buFontTx/>
              <a:buChar char="-"/>
            </a:pP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(</a:t>
            </a:r>
            <a:r>
              <a:rPr lang="en-US" altLang="ko-KR" sz="1900" b="0" i="0" u="none" strike="noStrike" spc="-100" dirty="0" err="1">
                <a:solidFill>
                  <a:srgbClr val="4C4747"/>
                </a:solidFill>
                <a:ea typeface="Noto Sans CJK KR Regular"/>
              </a:rPr>
              <a:t>vip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가 아닌 고객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=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일반고객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 / 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일반고객 중 </a:t>
            </a:r>
            <a:r>
              <a:rPr lang="en-US" altLang="ko-KR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120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일 이상 </a:t>
            </a:r>
            <a:r>
              <a:rPr lang="ko-KR" altLang="en-US" sz="1900" b="0" i="0" u="none" strike="noStrike" spc="-100" dirty="0" err="1">
                <a:solidFill>
                  <a:srgbClr val="4C4747"/>
                </a:solidFill>
                <a:ea typeface="Noto Sans CJK KR Regular"/>
              </a:rPr>
              <a:t>미거래</a:t>
            </a:r>
            <a:r>
              <a:rPr lang="ko-KR" altLang="en-US" sz="1900" b="0" i="0" u="none" strike="noStrike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= 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이탈 고객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)</a:t>
            </a:r>
          </a:p>
          <a:p>
            <a:pPr marL="342900" lvl="0" indent="-342900">
              <a:lnSpc>
                <a:spcPct val="131887"/>
              </a:lnSpc>
              <a:buFontTx/>
              <a:buChar char="-"/>
            </a:pPr>
            <a:endParaRPr lang="en-US" altLang="ko-KR" sz="1900" b="0" i="0" u="none" strike="noStrike" spc="-100" dirty="0">
              <a:solidFill>
                <a:srgbClr val="4C4747"/>
              </a:solidFill>
              <a:ea typeface="Noto Sans CJK KR Regular"/>
            </a:endParaRPr>
          </a:p>
          <a:p>
            <a:pPr marL="342900" lvl="0" indent="-342900">
              <a:lnSpc>
                <a:spcPct val="131887"/>
              </a:lnSpc>
              <a:buFontTx/>
              <a:buChar char="-"/>
            </a:pP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VIP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고객  제공 혜택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(6%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의 </a:t>
            </a:r>
            <a:r>
              <a:rPr lang="en-US" altLang="ko-KR" sz="1900" spc="-100" dirty="0" err="1">
                <a:solidFill>
                  <a:srgbClr val="4C4747"/>
                </a:solidFill>
                <a:ea typeface="Noto Sans CJK KR Regular"/>
              </a:rPr>
              <a:t>vip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고객이 매출의 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80%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를 차지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)</a:t>
            </a:r>
          </a:p>
          <a:p>
            <a:pPr marL="342900" lvl="0" indent="-342900">
              <a:lnSpc>
                <a:spcPct val="131887"/>
              </a:lnSpc>
              <a:buFontTx/>
              <a:buChar char="-"/>
            </a:pP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1) 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충성도 프로그램 운영 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(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포인트 시스템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등급 세분화 후 등급별 혜택 진행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)</a:t>
            </a:r>
          </a:p>
          <a:p>
            <a:pPr marL="342900" lvl="0" indent="-342900">
              <a:lnSpc>
                <a:spcPct val="131887"/>
              </a:lnSpc>
              <a:buFontTx/>
              <a:buChar char="-"/>
            </a:pP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2) 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고객 맞춤형 컨설팅 제공 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: 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일반고객보다 더 전문적인 기술 분석과 특별 솔루션 제공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  <a:p>
            <a:pPr marL="342900" lvl="0" indent="-342900">
              <a:lnSpc>
                <a:spcPct val="131887"/>
              </a:lnSpc>
              <a:buFontTx/>
              <a:buChar char="-"/>
            </a:pP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3)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 우선 지원 및 전담 관리 서비스 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: </a:t>
            </a:r>
            <a:r>
              <a:rPr lang="en-US" altLang="ko-KR" sz="1900" spc="-100" dirty="0" err="1">
                <a:solidFill>
                  <a:srgbClr val="4C4747"/>
                </a:solidFill>
                <a:ea typeface="Noto Sans CJK KR Regular"/>
              </a:rPr>
              <a:t>vip</a:t>
            </a:r>
            <a:r>
              <a:rPr lang="en-US" altLang="ko-KR" sz="1900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ko-KR" altLang="en-US" sz="1900" spc="-100" dirty="0">
                <a:solidFill>
                  <a:srgbClr val="4C4747"/>
                </a:solidFill>
                <a:ea typeface="Noto Sans CJK KR Regular"/>
              </a:rPr>
              <a:t>고객에게 전담 계정 관리자 배정하여 고객 맞춤 서비스 우선 제공</a:t>
            </a:r>
            <a:endParaRPr lang="en-US" altLang="ko-KR" sz="1900" spc="-100" dirty="0">
              <a:solidFill>
                <a:srgbClr val="4C4747"/>
              </a:solidFill>
              <a:ea typeface="Noto Sans CJK KR Regular"/>
            </a:endParaRPr>
          </a:p>
        </p:txBody>
      </p:sp>
      <p:pic>
        <p:nvPicPr>
          <p:cNvPr id="4" name="그림 3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9EF96F-22E1-5BCF-7BAE-5C7701C3B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628" y="279400"/>
            <a:ext cx="3680716" cy="3694495"/>
          </a:xfrm>
          <a:prstGeom prst="rect">
            <a:avLst/>
          </a:prstGeom>
        </p:spPr>
      </p:pic>
      <p:pic>
        <p:nvPicPr>
          <p:cNvPr id="10" name="그림 9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1675CE7-5B6F-C0FA-777E-DA52AD3F7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344" y="279400"/>
            <a:ext cx="3718800" cy="36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05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D4954-CC44-E144-5BF5-C70F691F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F9B506E-0120-546C-21FB-E0FD356C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88900" y="2933700"/>
            <a:ext cx="838200" cy="114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C5203FD-9595-A586-8545-B523AFE7EE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645400" y="50800"/>
            <a:ext cx="1981200" cy="1968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7486176-CABE-0672-6679-D0973315B2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2700000">
            <a:off x="9067800" y="254000"/>
            <a:ext cx="2286000" cy="2324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890E5A6-F25A-E805-5F69-F6D6002A6A2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8267700" y="4826000"/>
            <a:ext cx="2717800" cy="2692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153ED4A-EB03-281B-C6DC-C7B900D81C44}"/>
              </a:ext>
            </a:extLst>
          </p:cNvPr>
          <p:cNvSpPr txBox="1"/>
          <p:nvPr/>
        </p:nvSpPr>
        <p:spPr>
          <a:xfrm>
            <a:off x="1028700" y="2159000"/>
            <a:ext cx="1765300" cy="154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4660"/>
              </a:lnSpc>
            </a:pPr>
            <a:r>
              <a:rPr lang="en-US" sz="8700" b="0" i="0" u="none" strike="noStrike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4F7AE5-12B9-B0A7-D0B5-A247FF1F6E8C}"/>
              </a:ext>
            </a:extLst>
          </p:cNvPr>
          <p:cNvSpPr txBox="1"/>
          <p:nvPr/>
        </p:nvSpPr>
        <p:spPr>
          <a:xfrm>
            <a:off x="1028700" y="3759200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3700" b="0" i="0" u="none" strike="noStrike" spc="-300" dirty="0">
                <a:solidFill>
                  <a:srgbClr val="FFFFFF"/>
                </a:solidFill>
                <a:ea typeface="Noto Sans CJK KR Regular"/>
              </a:rPr>
              <a:t>프로젝트 소감</a:t>
            </a:r>
            <a:endParaRPr lang="ko-KR" sz="3700" b="0" i="0" u="none" strike="noStrike" spc="-300" dirty="0">
              <a:solidFill>
                <a:srgbClr val="FFFFFF"/>
              </a:solidFill>
              <a:ea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46618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0A13-712C-0B7C-6389-7162F0E4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E6C63A88-DBFE-0F53-40A5-3BED7BECCE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-2700000">
            <a:off x="-863600" y="-990600"/>
            <a:ext cx="3048000" cy="3048000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9A3191BE-EF10-5A2C-CB43-DB99ED3FD5B9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C028DD1-86C6-D0C5-CB84-825A4382C736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B6FE086-F6E2-518E-EEE3-4CD35D0C82F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6">
            <a:extLst>
              <a:ext uri="{FF2B5EF4-FFF2-40B4-BE49-F238E27FC236}">
                <a16:creationId xmlns:a16="http://schemas.microsoft.com/office/drawing/2014/main" id="{1283EFF0-70FB-A2E9-5020-A3ACD0C0154A}"/>
              </a:ext>
            </a:extLst>
          </p:cNvPr>
          <p:cNvSpPr txBox="1"/>
          <p:nvPr/>
        </p:nvSpPr>
        <p:spPr>
          <a:xfrm>
            <a:off x="9321800" y="6830321"/>
            <a:ext cx="1143000" cy="8077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4660"/>
              </a:lnSpc>
            </a:pPr>
            <a:r>
              <a:rPr lang="en-US" sz="4000" dirty="0">
                <a:solidFill>
                  <a:schemeClr val="bg1">
                    <a:lumMod val="75000"/>
                  </a:schemeClr>
                </a:solidFill>
              </a:rPr>
              <a:t>27</a:t>
            </a:r>
            <a:endParaRPr lang="en-US" sz="4000" b="0" i="0" u="none" strike="noStrik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061397C4-438D-10B4-212D-9E964A26AF47}"/>
              </a:ext>
            </a:extLst>
          </p:cNvPr>
          <p:cNvSpPr txBox="1"/>
          <p:nvPr/>
        </p:nvSpPr>
        <p:spPr>
          <a:xfrm>
            <a:off x="5041900" y="6904018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5287"/>
              </a:lnSpc>
            </a:pPr>
            <a:r>
              <a:rPr lang="ko-KR" altLang="en-US" sz="2000" b="0" i="0" u="none" strike="noStrike" spc="-300" dirty="0">
                <a:solidFill>
                  <a:schemeClr val="bg1">
                    <a:lumMod val="75000"/>
                  </a:schemeClr>
                </a:solidFill>
                <a:ea typeface="Noto Sans CJK KR Regular"/>
              </a:rPr>
              <a:t>프로젝트 소감</a:t>
            </a:r>
            <a:endParaRPr lang="ko-KR" sz="2000" b="0" i="0" u="none" strike="noStrike" spc="-300" dirty="0">
              <a:solidFill>
                <a:schemeClr val="bg1">
                  <a:lumMod val="75000"/>
                </a:schemeClr>
              </a:solidFill>
              <a:ea typeface="Noto Sans CJK KR Regular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39E7840A-F92C-57C6-115A-C7B07C7C55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4141267" y="2154264"/>
            <a:ext cx="3187700" cy="3162300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CE061BD2-88A9-5C48-9AA7-9E9B418A527A}"/>
              </a:ext>
            </a:extLst>
          </p:cNvPr>
          <p:cNvSpPr txBox="1"/>
          <p:nvPr/>
        </p:nvSpPr>
        <p:spPr>
          <a:xfrm>
            <a:off x="2844800" y="641027"/>
            <a:ext cx="28067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533"/>
              </a:lnSpc>
            </a:pPr>
            <a:r>
              <a:rPr lang="ko-KR" altLang="en-US" sz="3100" b="1" spc="-200" dirty="0">
                <a:solidFill>
                  <a:srgbClr val="4C4747"/>
                </a:solidFill>
                <a:ea typeface="Noto Sans CJK KR Regular"/>
              </a:rPr>
              <a:t>프로젝트 소감</a:t>
            </a:r>
            <a:endParaRPr lang="en-US" sz="3100" b="1" i="0" u="none" strike="noStrike" spc="-200" dirty="0">
              <a:solidFill>
                <a:srgbClr val="4C4747"/>
              </a:solidFill>
            </a:endParaRP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4672D16-EBF5-E79A-4699-29D28D781F81}"/>
              </a:ext>
            </a:extLst>
          </p:cNvPr>
          <p:cNvSpPr txBox="1"/>
          <p:nvPr/>
        </p:nvSpPr>
        <p:spPr>
          <a:xfrm>
            <a:off x="5651500" y="469279"/>
            <a:ext cx="5507578" cy="9022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en-US" sz="1900" spc="-100" dirty="0">
                <a:solidFill>
                  <a:srgbClr val="4C50BB"/>
                </a:solidFill>
                <a:ea typeface="Noto Sans CJK KR Regular"/>
              </a:rPr>
              <a:t>[DSA</a:t>
            </a: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 프로젝트 </a:t>
            </a:r>
            <a:r>
              <a:rPr lang="en-US" altLang="ko-KR" sz="1900" spc="-100" dirty="0">
                <a:solidFill>
                  <a:srgbClr val="4C50BB"/>
                </a:solidFill>
                <a:ea typeface="Noto Sans CJK KR Regular"/>
              </a:rPr>
              <a:t>18</a:t>
            </a: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기</a:t>
            </a:r>
            <a:r>
              <a:rPr lang="en-US" altLang="ko-KR" sz="1900" spc="-100" dirty="0">
                <a:solidFill>
                  <a:srgbClr val="4C50BB"/>
                </a:solidFill>
                <a:ea typeface="Noto Sans CJK KR Regular"/>
              </a:rPr>
              <a:t>]</a:t>
            </a:r>
          </a:p>
          <a:p>
            <a:pPr lvl="0" algn="l">
              <a:lnSpc>
                <a:spcPct val="115287"/>
              </a:lnSpc>
            </a:pP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데이터코드 </a:t>
            </a:r>
            <a:r>
              <a:rPr lang="en-US" alt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_ </a:t>
            </a: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김나영</a:t>
            </a:r>
            <a:r>
              <a:rPr lang="en-US" alt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, </a:t>
            </a: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김도연</a:t>
            </a:r>
            <a:r>
              <a:rPr lang="en-US" alt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, </a:t>
            </a: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최선아</a:t>
            </a:r>
            <a:r>
              <a:rPr lang="en-US" altLang="ko-KR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, </a:t>
            </a: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최윤서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pic>
        <p:nvPicPr>
          <p:cNvPr id="2050" name="Picture 2" descr="い ら す と や 인물 여자 일러스트 레이터, 여자 캐릭터, 어린이, 얼굴, 손 png | PNGWing">
            <a:extLst>
              <a:ext uri="{FF2B5EF4-FFF2-40B4-BE49-F238E27FC236}">
                <a16:creationId xmlns:a16="http://schemas.microsoft.com/office/drawing/2014/main" id="{8BC87E43-E70F-5396-3696-CF75368127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891" y1="79873" x2="49891" y2="79873"/>
                        <a14:foregroundMark x1="55761" y1="88734" x2="55761" y2="88734"/>
                        <a14:foregroundMark x1="50761" y1="77848" x2="50761" y2="77848"/>
                        <a14:foregroundMark x1="48587" y1="75696" x2="48587" y2="75696"/>
                        <a14:foregroundMark x1="45761" y1="74810" x2="45761" y2="74810"/>
                        <a14:foregroundMark x1="48587" y1="77848" x2="48587" y2="77848"/>
                        <a14:foregroundMark x1="48696" y1="81266" x2="48696" y2="81266"/>
                        <a14:foregroundMark x1="52500" y1="69873" x2="52500" y2="69873"/>
                        <a14:foregroundMark x1="47174" y1="84304" x2="47174" y2="84304"/>
                      </a14:backgroundRemoval>
                    </a14:imgEffect>
                    <a14:imgEffect>
                      <a14:colorTemperature colorTemp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15" t="10708" r="19326" b="5162"/>
          <a:stretch/>
        </p:blipFill>
        <p:spPr bwMode="auto">
          <a:xfrm>
            <a:off x="7185629" y="1651000"/>
            <a:ext cx="1001935" cy="119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A016C919-F8F4-3195-3707-E80853BD9608}"/>
              </a:ext>
            </a:extLst>
          </p:cNvPr>
          <p:cNvSpPr txBox="1"/>
          <p:nvPr/>
        </p:nvSpPr>
        <p:spPr>
          <a:xfrm>
            <a:off x="5302332" y="2794000"/>
            <a:ext cx="5606968" cy="14596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887"/>
              </a:lnSpc>
            </a:pP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6</a:t>
            </a: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주라는 기간동안 데이터 분석 전 과정을 배우고</a:t>
            </a:r>
            <a:endParaRPr lang="en-US" altLang="ko-KR" sz="1600" spc="-100" dirty="0">
              <a:solidFill>
                <a:srgbClr val="4C4747"/>
              </a:solidFill>
              <a:ea typeface="Noto Sans CJK KR Regular"/>
            </a:endParaRPr>
          </a:p>
          <a:p>
            <a:pPr lvl="0" algn="ctr">
              <a:lnSpc>
                <a:spcPct val="131887"/>
              </a:lnSpc>
            </a:pPr>
            <a:r>
              <a:rPr lang="ko-KR" altLang="en-US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프로젝트까지 할 수 있어서 유익하고 뜻깊은 시간이었어요</a:t>
            </a:r>
            <a:r>
              <a:rPr lang="en-US" altLang="ko-KR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!</a:t>
            </a:r>
          </a:p>
          <a:p>
            <a:pPr lvl="0" algn="ctr">
              <a:lnSpc>
                <a:spcPct val="131887"/>
              </a:lnSpc>
            </a:pP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그리고 같이 한 팀원분들께도 감사의 말씀 드리고 싶습니다</a:t>
            </a: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!</a:t>
            </a:r>
            <a:endParaRPr lang="ko-KR" sz="1600" b="0" i="0" u="none" strike="noStrike" spc="-1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D97080B7-EDC6-C144-4E26-4D189036612D}"/>
              </a:ext>
            </a:extLst>
          </p:cNvPr>
          <p:cNvSpPr txBox="1"/>
          <p:nvPr/>
        </p:nvSpPr>
        <p:spPr>
          <a:xfrm>
            <a:off x="8342218" y="2352436"/>
            <a:ext cx="787519" cy="5812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김도연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pic>
        <p:nvPicPr>
          <p:cNvPr id="21" name="Picture 2" descr="い ら す と や 인물 여자 일러스트 레이터, 여자 캐릭터, 어린이, 얼굴, 손 png | PNGWing">
            <a:extLst>
              <a:ext uri="{FF2B5EF4-FFF2-40B4-BE49-F238E27FC236}">
                <a16:creationId xmlns:a16="http://schemas.microsoft.com/office/drawing/2014/main" id="{A0183A9A-5F40-91D5-F45A-FE9827BEE0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891" y1="79873" x2="49891" y2="79873"/>
                        <a14:foregroundMark x1="55761" y1="88734" x2="55761" y2="88734"/>
                        <a14:foregroundMark x1="50761" y1="77848" x2="50761" y2="77848"/>
                        <a14:foregroundMark x1="48587" y1="75696" x2="48587" y2="75696"/>
                        <a14:foregroundMark x1="45761" y1="74810" x2="45761" y2="74810"/>
                        <a14:foregroundMark x1="48587" y1="77848" x2="48587" y2="77848"/>
                        <a14:foregroundMark x1="48696" y1="81266" x2="48696" y2="81266"/>
                        <a14:foregroundMark x1="52500" y1="69873" x2="52500" y2="69873"/>
                        <a14:foregroundMark x1="47174" y1="84304" x2="47174" y2="84304"/>
                      </a14:backgroundRemoval>
                    </a14:imgEffect>
                    <a14:imgEffect>
                      <a14:colorTemperature colorTemp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15" t="10708" r="19326" b="5162"/>
          <a:stretch/>
        </p:blipFill>
        <p:spPr bwMode="auto">
          <a:xfrm>
            <a:off x="7185629" y="4470400"/>
            <a:ext cx="1001935" cy="119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C998AF77-E2C5-9ABD-2AB9-06FAB5A7B68B}"/>
              </a:ext>
            </a:extLst>
          </p:cNvPr>
          <p:cNvSpPr txBox="1"/>
          <p:nvPr/>
        </p:nvSpPr>
        <p:spPr>
          <a:xfrm>
            <a:off x="4997532" y="5641331"/>
            <a:ext cx="5606968" cy="14596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887"/>
              </a:lnSpc>
            </a:pP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6</a:t>
            </a: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주 동안 데이터분석 공부를 팀원들과 같이 공부를 하니 </a:t>
            </a:r>
            <a:endParaRPr lang="en-US" altLang="ko-KR" sz="1600" spc="-100" dirty="0">
              <a:solidFill>
                <a:srgbClr val="4C4747"/>
              </a:solidFill>
              <a:ea typeface="Noto Sans CJK KR Regular"/>
            </a:endParaRPr>
          </a:p>
          <a:p>
            <a:pPr lvl="0" algn="ctr">
              <a:lnSpc>
                <a:spcPct val="131887"/>
              </a:lnSpc>
            </a:pP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많이 깨닫고 뜻깊은 시간이었습니다</a:t>
            </a: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. </a:t>
            </a:r>
          </a:p>
          <a:p>
            <a:pPr lvl="0" algn="ctr">
              <a:lnSpc>
                <a:spcPct val="131887"/>
              </a:lnSpc>
            </a:pP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그동안 열심히 해 주신 팀원분들 정말 수고했다고 말 드리고 싶습니다 </a:t>
            </a: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!</a:t>
            </a:r>
            <a:endParaRPr lang="ko-KR" sz="1600" b="0" i="0" u="none" strike="noStrike" spc="-1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4065B0F7-9417-4868-1689-33FC561DFFF1}"/>
              </a:ext>
            </a:extLst>
          </p:cNvPr>
          <p:cNvSpPr txBox="1"/>
          <p:nvPr/>
        </p:nvSpPr>
        <p:spPr>
          <a:xfrm>
            <a:off x="8342218" y="5171836"/>
            <a:ext cx="787519" cy="5812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최선아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pic>
        <p:nvPicPr>
          <p:cNvPr id="30" name="Picture 2" descr="い ら す と や 인물 여자 일러스트 레이터, 여자 캐릭터, 어린이, 얼굴, 손 png | PNGWing">
            <a:extLst>
              <a:ext uri="{FF2B5EF4-FFF2-40B4-BE49-F238E27FC236}">
                <a16:creationId xmlns:a16="http://schemas.microsoft.com/office/drawing/2014/main" id="{5298EB88-02BD-9943-B6D8-36CA530DB9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891" y1="79873" x2="49891" y2="79873"/>
                        <a14:foregroundMark x1="55761" y1="88734" x2="55761" y2="88734"/>
                        <a14:foregroundMark x1="50761" y1="77848" x2="50761" y2="77848"/>
                        <a14:foregroundMark x1="48587" y1="75696" x2="48587" y2="75696"/>
                        <a14:foregroundMark x1="45761" y1="74810" x2="45761" y2="74810"/>
                        <a14:foregroundMark x1="48587" y1="77848" x2="48587" y2="77848"/>
                        <a14:foregroundMark x1="48696" y1="81266" x2="48696" y2="81266"/>
                        <a14:foregroundMark x1="52500" y1="69873" x2="52500" y2="69873"/>
                        <a14:foregroundMark x1="47174" y1="84304" x2="47174" y2="84304"/>
                      </a14:backgroundRemoval>
                    </a14:imgEffect>
                    <a14:imgEffect>
                      <a14:colorTemperature colorTemp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15" t="10708" r="19326" b="5162"/>
          <a:stretch/>
        </p:blipFill>
        <p:spPr bwMode="auto">
          <a:xfrm>
            <a:off x="2340497" y="1651000"/>
            <a:ext cx="1001935" cy="119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6">
            <a:extLst>
              <a:ext uri="{FF2B5EF4-FFF2-40B4-BE49-F238E27FC236}">
                <a16:creationId xmlns:a16="http://schemas.microsoft.com/office/drawing/2014/main" id="{C4097CF8-0BE3-44E3-F2DD-1BA8F2DF2B80}"/>
              </a:ext>
            </a:extLst>
          </p:cNvPr>
          <p:cNvSpPr txBox="1"/>
          <p:nvPr/>
        </p:nvSpPr>
        <p:spPr>
          <a:xfrm>
            <a:off x="120732" y="2934546"/>
            <a:ext cx="5606968" cy="14596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887"/>
              </a:lnSpc>
            </a:pP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처음엔 잘 해낼 수 있을지 걱정했던 것에 무색하게</a:t>
            </a: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,</a:t>
            </a:r>
          </a:p>
          <a:p>
            <a:pPr lvl="0" algn="ctr">
              <a:lnSpc>
                <a:spcPct val="131887"/>
              </a:lnSpc>
            </a:pP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팀원들 덕분에 많은 도움 받으며 프로젝트까지 잘 마무리한 것 같습니다</a:t>
            </a: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.</a:t>
            </a:r>
          </a:p>
          <a:p>
            <a:pPr lvl="0" algn="ctr">
              <a:lnSpc>
                <a:spcPct val="131887"/>
              </a:lnSpc>
            </a:pP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 </a:t>
            </a: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DSA </a:t>
            </a:r>
            <a:r>
              <a:rPr lang="ko-KR" altLang="en-US" sz="1600" spc="-100" dirty="0">
                <a:solidFill>
                  <a:srgbClr val="4C4747"/>
                </a:solidFill>
                <a:ea typeface="Noto Sans CJK KR Regular"/>
              </a:rPr>
              <a:t>프로젝트를 하며 데이터 분석에 대한 새로운 인사이트가 생긴 것 같아 뿌듯합니다</a:t>
            </a:r>
            <a:r>
              <a:rPr lang="en-US" altLang="ko-KR" sz="1600" spc="-100" dirty="0">
                <a:solidFill>
                  <a:srgbClr val="4C4747"/>
                </a:solidFill>
                <a:ea typeface="Noto Sans CJK KR Regular"/>
              </a:rPr>
              <a:t>!</a:t>
            </a: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4EE9556F-CA2D-543D-FD7E-05410884CF56}"/>
              </a:ext>
            </a:extLst>
          </p:cNvPr>
          <p:cNvSpPr txBox="1"/>
          <p:nvPr/>
        </p:nvSpPr>
        <p:spPr>
          <a:xfrm>
            <a:off x="3497086" y="2352436"/>
            <a:ext cx="787519" cy="5812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spc="-100" dirty="0">
                <a:solidFill>
                  <a:srgbClr val="4C50BB"/>
                </a:solidFill>
                <a:ea typeface="Noto Sans CJK KR Regular"/>
              </a:rPr>
              <a:t>김나영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  <p:pic>
        <p:nvPicPr>
          <p:cNvPr id="33" name="Picture 2" descr="い ら す と や 인물 여자 일러스트 레이터, 여자 캐릭터, 어린이, 얼굴, 손 png | PNGWing">
            <a:extLst>
              <a:ext uri="{FF2B5EF4-FFF2-40B4-BE49-F238E27FC236}">
                <a16:creationId xmlns:a16="http://schemas.microsoft.com/office/drawing/2014/main" id="{99C98669-3790-2ACE-F4C5-4CD3FDF9C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891" y1="79873" x2="49891" y2="79873"/>
                        <a14:foregroundMark x1="55761" y1="88734" x2="55761" y2="88734"/>
                        <a14:foregroundMark x1="50761" y1="77848" x2="50761" y2="77848"/>
                        <a14:foregroundMark x1="48587" y1="75696" x2="48587" y2="75696"/>
                        <a14:foregroundMark x1="45761" y1="74810" x2="45761" y2="74810"/>
                        <a14:foregroundMark x1="48587" y1="77848" x2="48587" y2="77848"/>
                        <a14:foregroundMark x1="48696" y1="81266" x2="48696" y2="81266"/>
                        <a14:foregroundMark x1="52500" y1="69873" x2="52500" y2="69873"/>
                        <a14:foregroundMark x1="47174" y1="84304" x2="47174" y2="84304"/>
                      </a14:backgroundRemoval>
                    </a14:imgEffect>
                    <a14:imgEffect>
                      <a14:colorTemperature colorTemp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15" t="10708" r="19326" b="5162"/>
          <a:stretch/>
        </p:blipFill>
        <p:spPr bwMode="auto">
          <a:xfrm>
            <a:off x="2340497" y="4470400"/>
            <a:ext cx="1001935" cy="119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6">
            <a:extLst>
              <a:ext uri="{FF2B5EF4-FFF2-40B4-BE49-F238E27FC236}">
                <a16:creationId xmlns:a16="http://schemas.microsoft.com/office/drawing/2014/main" id="{842E1391-3752-BA91-83DF-12BFAF20A54B}"/>
              </a:ext>
            </a:extLst>
          </p:cNvPr>
          <p:cNvSpPr txBox="1"/>
          <p:nvPr/>
        </p:nvSpPr>
        <p:spPr>
          <a:xfrm>
            <a:off x="12700" y="5641331"/>
            <a:ext cx="5606968" cy="14596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887"/>
              </a:lnSpc>
            </a:pPr>
            <a:r>
              <a:rPr lang="en-US" altLang="ko-KR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6</a:t>
            </a:r>
            <a:r>
              <a:rPr lang="ko-KR" altLang="en-US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주 동안 생각보다 데이터 분석에 대한 많은 공부를 하고</a:t>
            </a:r>
            <a:r>
              <a:rPr lang="en-US" altLang="ko-KR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, </a:t>
            </a:r>
            <a:r>
              <a:rPr lang="ko-KR" altLang="en-US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실습도 할 수 있어서 좋았습니다</a:t>
            </a:r>
            <a:r>
              <a:rPr lang="en-US" altLang="ko-KR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!  </a:t>
            </a:r>
            <a:r>
              <a:rPr lang="ko-KR" altLang="en-US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팀원분들께도 같이 열심히 해 주셔서</a:t>
            </a:r>
            <a:endParaRPr lang="en-US" altLang="ko-KR" sz="1600" b="0" i="0" u="none" strike="noStrike" spc="-100" dirty="0">
              <a:solidFill>
                <a:srgbClr val="4C4747"/>
              </a:solidFill>
              <a:ea typeface="Noto Sans CJK KR Regular"/>
            </a:endParaRPr>
          </a:p>
          <a:p>
            <a:pPr lvl="0" algn="ctr">
              <a:lnSpc>
                <a:spcPct val="131887"/>
              </a:lnSpc>
            </a:pPr>
            <a:r>
              <a:rPr lang="ko-KR" altLang="en-US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감사하다는 말 드리고 싶습니다</a:t>
            </a:r>
            <a:r>
              <a:rPr lang="en-US" altLang="ko-KR" sz="1600" b="0" i="0" u="none" strike="noStrike" spc="-100" dirty="0">
                <a:solidFill>
                  <a:srgbClr val="4C4747"/>
                </a:solidFill>
                <a:ea typeface="Noto Sans CJK KR Regular"/>
              </a:rPr>
              <a:t>~</a:t>
            </a:r>
            <a:endParaRPr lang="ko-KR" sz="1600" b="0" i="0" u="none" strike="noStrike" spc="-100" dirty="0">
              <a:solidFill>
                <a:srgbClr val="4C4747"/>
              </a:solidFill>
              <a:ea typeface="Noto Sans CJK KR Regular"/>
            </a:endParaRP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A853D2B2-011E-8963-F5FE-67C7D9A57C1E}"/>
              </a:ext>
            </a:extLst>
          </p:cNvPr>
          <p:cNvSpPr txBox="1"/>
          <p:nvPr/>
        </p:nvSpPr>
        <p:spPr>
          <a:xfrm>
            <a:off x="3497086" y="5171836"/>
            <a:ext cx="787519" cy="5812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altLang="en-US" sz="1900" b="0" i="0" u="none" strike="noStrike" spc="-100" dirty="0">
                <a:solidFill>
                  <a:srgbClr val="4C50BB"/>
                </a:solidFill>
                <a:ea typeface="Noto Sans CJK KR Regular"/>
              </a:rPr>
              <a:t>최윤서</a:t>
            </a:r>
            <a:endParaRPr lang="en-US" sz="1900" b="0" i="0" u="none" strike="noStrike" spc="-100" dirty="0">
              <a:solidFill>
                <a:srgbClr val="4C50B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67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0B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A6BCC-1728-3D4A-0AD2-FD26C31D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8297AD9-4575-63F5-D27B-5676B76EB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-88900" y="2933700"/>
            <a:ext cx="838200" cy="114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D63AB7C-A6A7-0069-54C9-9F6B9C66CF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645400" y="50800"/>
            <a:ext cx="1981200" cy="1968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E6E64ED-0BF4-0687-8137-1C1349761D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2700000">
            <a:off x="9067800" y="254000"/>
            <a:ext cx="2286000" cy="2324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8C98CDD-0126-CA7F-9C0F-88ACDA7376C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8267700" y="4826000"/>
            <a:ext cx="2717800" cy="26924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F9F93063-2798-DFD3-E2BC-F0157A36AFAB}"/>
              </a:ext>
            </a:extLst>
          </p:cNvPr>
          <p:cNvSpPr txBox="1"/>
          <p:nvPr/>
        </p:nvSpPr>
        <p:spPr>
          <a:xfrm>
            <a:off x="979025" y="2603500"/>
            <a:ext cx="46228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287"/>
              </a:lnSpc>
            </a:pPr>
            <a:r>
              <a:rPr lang="ko-KR" sz="5000" b="0" i="0" u="none" strike="noStrike" spc="-300" dirty="0">
                <a:solidFill>
                  <a:srgbClr val="FFFFFF"/>
                </a:solidFill>
                <a:ea typeface="Noto Sans CJK KR Regular"/>
              </a:rPr>
              <a:t>참고문헌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50B8407-AF9C-8842-4A95-199470F16859}"/>
              </a:ext>
            </a:extLst>
          </p:cNvPr>
          <p:cNvSpPr txBox="1"/>
          <p:nvPr/>
        </p:nvSpPr>
        <p:spPr>
          <a:xfrm>
            <a:off x="977900" y="4610100"/>
            <a:ext cx="9461500" cy="223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1800" b="0" i="0" u="none" strike="noStrike" dirty="0">
                <a:solidFill>
                  <a:srgbClr val="FFFFFF"/>
                </a:solidFill>
              </a:rPr>
              <a:t>https://yozm.wishket.com/magazine/detail/1612/</a:t>
            </a:r>
          </a:p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1800" b="0" i="0" u="none" strike="noStrike" dirty="0">
                <a:solidFill>
                  <a:srgbClr val="FFFFFF"/>
                </a:solidFill>
              </a:rPr>
              <a:t>https://www.venturesquare.net/866286</a:t>
            </a:r>
          </a:p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1800" b="0" i="0" u="none" strike="noStrike" dirty="0">
                <a:solidFill>
                  <a:srgbClr val="FFFFFF"/>
                </a:solidFill>
              </a:rPr>
              <a:t>https://www.sparta-builders.com/blog/%EC%9A%B0%EB%A6%AC-%ED%9A%8C%EC%82%AC%EC%97%90-%EC%A0%81%ED%95%A9%ED%95%9C-it-%EA%B0%9C%EB%B0%9C-%EC%A0%84%EB%9E%B5-33981</a:t>
            </a:r>
          </a:p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1800" b="0" i="0" u="none" strike="noStrike" dirty="0">
                <a:solidFill>
                  <a:srgbClr val="FFFFFF"/>
                </a:solidFill>
              </a:rPr>
              <a:t>https://www.elancer.co.kr/blog/detail/40</a:t>
            </a:r>
          </a:p>
          <a:p>
            <a:pPr marL="342900" lvl="0" indent="-342900" algn="l">
              <a:lnSpc>
                <a:spcPct val="116199"/>
              </a:lnSpc>
              <a:buClr>
                <a:srgbClr val="FFFFFF"/>
              </a:buClr>
              <a:buFont typeface="Arial"/>
              <a:buChar char="●"/>
            </a:pPr>
            <a:r>
              <a:rPr lang="en-US" sz="1800" b="0" i="0" u="none" strike="noStrike" dirty="0">
                <a:solidFill>
                  <a:srgbClr val="FFFFFF"/>
                </a:solidFill>
              </a:rPr>
              <a:t>https://www.mordorintelligence.kr/industry-reports/it-outsourcing-market</a:t>
            </a:r>
          </a:p>
        </p:txBody>
      </p:sp>
    </p:spTree>
    <p:extLst>
      <p:ext uri="{BB962C8B-B14F-4D97-AF65-F5344CB8AC3E}">
        <p14:creationId xmlns:p14="http://schemas.microsoft.com/office/powerpoint/2010/main" val="288311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1590</Words>
  <Application>Microsoft Office PowerPoint</Application>
  <PresentationFormat>Custom</PresentationFormat>
  <Paragraphs>246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Calibri</vt:lpstr>
      <vt:lpstr>S-Core Dream 7 ExtraBold</vt:lpstr>
      <vt:lpstr>Bebas</vt:lpstr>
      <vt:lpstr>Pretendard Regular</vt:lpstr>
      <vt:lpstr>맑은 고딕</vt:lpstr>
      <vt:lpstr>S-Core Dream 5 Medium</vt:lpstr>
      <vt:lpstr>Noto Sans CJK KR Regular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Yunseo Choi</dc:creator>
  <cp:lastModifiedBy>Yunseo Choi</cp:lastModifiedBy>
  <cp:revision>66</cp:revision>
  <dcterms:created xsi:type="dcterms:W3CDTF">2006-08-16T00:00:00Z</dcterms:created>
  <dcterms:modified xsi:type="dcterms:W3CDTF">2025-10-09T12:16:26Z</dcterms:modified>
</cp:coreProperties>
</file>